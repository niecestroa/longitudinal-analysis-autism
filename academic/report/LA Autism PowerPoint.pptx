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3696" r:id="rId1"/>
  </p:sldMasterIdLst>
  <p:sldIdLst>
    <p:sldId id="256" r:id="rId2"/>
    <p:sldId id="261" r:id="rId3"/>
    <p:sldId id="258" r:id="rId4"/>
    <p:sldId id="257" r:id="rId5"/>
    <p:sldId id="262" r:id="rId6"/>
    <p:sldId id="260" r:id="rId7"/>
    <p:sldId id="264"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7" autoAdjust="0"/>
    <p:restoredTop sz="94660"/>
  </p:normalViewPr>
  <p:slideViewPr>
    <p:cSldViewPr snapToGrid="0">
      <p:cViewPr varScale="1">
        <p:scale>
          <a:sx n="98" d="100"/>
          <a:sy n="98" d="100"/>
        </p:scale>
        <p:origin x="54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91A318B-CA73-4AB0-8A42-A6CF493BA06C}" type="datetimeFigureOut">
              <a:rPr lang="en-US" smtClean="0"/>
              <a:t>12/7/2021</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232609E5-EE50-43C7-8BF2-74A383FF7AF2}"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3533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A318B-CA73-4AB0-8A42-A6CF493BA06C}"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609E5-EE50-43C7-8BF2-74A383FF7AF2}"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84987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91A318B-CA73-4AB0-8A42-A6CF493BA06C}"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609E5-EE50-43C7-8BF2-74A383FF7AF2}"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840560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91A318B-CA73-4AB0-8A42-A6CF493BA06C}"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2609E5-EE50-43C7-8BF2-74A383FF7AF2}"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809045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1A318B-CA73-4AB0-8A42-A6CF493BA06C}" type="datetimeFigureOut">
              <a:rPr lang="en-US" smtClean="0"/>
              <a:t>12/7/2021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32609E5-EE50-43C7-8BF2-74A383FF7AF2}"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920199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91A318B-CA73-4AB0-8A42-A6CF493BA06C}" type="datetimeFigureOut">
              <a:rPr lang="en-US" smtClean="0"/>
              <a:t>12/7/2021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32609E5-EE50-43C7-8BF2-74A383FF7AF2}"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7069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91A318B-CA73-4AB0-8A42-A6CF493BA06C}" type="datetimeFigureOut">
              <a:rPr lang="en-US" smtClean="0"/>
              <a:t>12/7/2021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32609E5-EE50-43C7-8BF2-74A383FF7AF2}" type="slidenum">
              <a:rPr lang="en-US" smtClean="0"/>
              <a:t>‹#›</a:t>
            </a:fld>
            <a:endParaRPr lang="en-US"/>
          </a:p>
        </p:txBody>
      </p:sp>
    </p:spTree>
    <p:extLst>
      <p:ext uri="{BB962C8B-B14F-4D97-AF65-F5344CB8AC3E}">
        <p14:creationId xmlns:p14="http://schemas.microsoft.com/office/powerpoint/2010/main" val="3393351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91A318B-CA73-4AB0-8A42-A6CF493BA06C}" type="datetimeFigureOut">
              <a:rPr lang="en-US" smtClean="0"/>
              <a:t>12/7/2021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32609E5-EE50-43C7-8BF2-74A383FF7AF2}"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94797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791A318B-CA73-4AB0-8A42-A6CF493BA06C}" type="datetimeFigureOut">
              <a:rPr lang="en-US" smtClean="0"/>
              <a:t>12/7/2021</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232609E5-EE50-43C7-8BF2-74A383FF7AF2}"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35678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A318B-CA73-4AB0-8A42-A6CF493BA06C}"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609E5-EE50-43C7-8BF2-74A383FF7AF2}"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29959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91A318B-CA73-4AB0-8A42-A6CF493BA06C}" type="datetimeFigureOut">
              <a:rPr lang="en-US" smtClean="0"/>
              <a:t>12/7/2021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32609E5-EE50-43C7-8BF2-74A383FF7AF2}"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3149143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791A318B-CA73-4AB0-8A42-A6CF493BA06C}" type="datetimeFigureOut">
              <a:rPr lang="en-US" smtClean="0"/>
              <a:t>12/7/2021</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232609E5-EE50-43C7-8BF2-74A383FF7AF2}"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586315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3.xml"/><Relationship Id="rId4" Type="http://schemas.openxmlformats.org/officeDocument/2006/relationships/image" Target="../media/image5.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50000" t="50000" r="50000" b="50000"/>
          </a:path>
        </a:gra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FDF9410-E530-4E71-A2C0-4C24B48964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F62AE0D-2044-4F51-9286-BA33F44B373E}"/>
              </a:ext>
            </a:extLst>
          </p:cNvPr>
          <p:cNvSpPr>
            <a:spLocks noGrp="1"/>
          </p:cNvSpPr>
          <p:nvPr>
            <p:ph type="ctrTitle"/>
          </p:nvPr>
        </p:nvSpPr>
        <p:spPr>
          <a:xfrm>
            <a:off x="1532114" y="1448432"/>
            <a:ext cx="9127470" cy="3241515"/>
          </a:xfrm>
        </p:spPr>
        <p:txBody>
          <a:bodyPr anchor="ctr">
            <a:normAutofit/>
          </a:bodyPr>
          <a:lstStyle/>
          <a:p>
            <a:pPr algn="ctr"/>
            <a:r>
              <a:rPr lang="en-US" sz="5400"/>
              <a:t>Analysis of Autism Data Using Mixed Linear Effects Model Approach</a:t>
            </a:r>
            <a:endParaRPr lang="en-US" sz="5400" dirty="0"/>
          </a:p>
        </p:txBody>
      </p:sp>
      <p:sp>
        <p:nvSpPr>
          <p:cNvPr id="3" name="Subtitle 2">
            <a:extLst>
              <a:ext uri="{FF2B5EF4-FFF2-40B4-BE49-F238E27FC236}">
                <a16:creationId xmlns:a16="http://schemas.microsoft.com/office/drawing/2014/main" id="{D2909EFF-418F-446F-B0B4-73AD0ADB3530}"/>
              </a:ext>
            </a:extLst>
          </p:cNvPr>
          <p:cNvSpPr>
            <a:spLocks noGrp="1"/>
          </p:cNvSpPr>
          <p:nvPr>
            <p:ph type="subTitle" idx="1"/>
          </p:nvPr>
        </p:nvSpPr>
        <p:spPr>
          <a:xfrm>
            <a:off x="1752966" y="5132139"/>
            <a:ext cx="8686800" cy="631270"/>
          </a:xfrm>
        </p:spPr>
        <p:txBody>
          <a:bodyPr>
            <a:normAutofit/>
          </a:bodyPr>
          <a:lstStyle/>
          <a:p>
            <a:r>
              <a:rPr lang="en-US"/>
              <a:t>By Aaron Niecestro</a:t>
            </a:r>
            <a:endParaRPr lang="en-US" dirty="0"/>
          </a:p>
        </p:txBody>
      </p:sp>
      <p:cxnSp>
        <p:nvCxnSpPr>
          <p:cNvPr id="10" name="Straight Connector 9">
            <a:extLst>
              <a:ext uri="{FF2B5EF4-FFF2-40B4-BE49-F238E27FC236}">
                <a16:creationId xmlns:a16="http://schemas.microsoft.com/office/drawing/2014/main" id="{53268B1E-8861-4702-9529-5A8FB23A618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52966" y="1094758"/>
            <a:ext cx="8686800" cy="0"/>
          </a:xfrm>
          <a:prstGeom prst="line">
            <a:avLst/>
          </a:prstGeom>
          <a:ln w="31750"/>
        </p:spPr>
        <p:style>
          <a:lnRef idx="3">
            <a:schemeClr val="accent1"/>
          </a:lnRef>
          <a:fillRef idx="0">
            <a:schemeClr val="accent1"/>
          </a:fillRef>
          <a:effectRef idx="2">
            <a:schemeClr val="accent1"/>
          </a:effectRef>
          <a:fontRef idx="minor">
            <a:schemeClr val="tx1"/>
          </a:fontRef>
        </p:style>
      </p:cxnSp>
      <p:cxnSp>
        <p:nvCxnSpPr>
          <p:cNvPr id="12" name="Straight Connector 11">
            <a:extLst>
              <a:ext uri="{FF2B5EF4-FFF2-40B4-BE49-F238E27FC236}">
                <a16:creationId xmlns:a16="http://schemas.microsoft.com/office/drawing/2014/main" id="{BC6646AE-8FD6-411E-8640-6CCB250D54F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752966" y="4923706"/>
            <a:ext cx="868680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288958783"/>
      </p:ext>
    </p:extLst>
  </p:cSld>
  <p:clrMapOvr>
    <a:masterClrMapping/>
  </p:clrMapOvr>
  <mc:AlternateContent xmlns:mc="http://schemas.openxmlformats.org/markup-compatibility/2006" xmlns:p14="http://schemas.microsoft.com/office/powerpoint/2010/main">
    <mc:Choice Requires="p14">
      <p:transition spd="slow" p14:dur="2000" advTm="8036"/>
    </mc:Choice>
    <mc:Fallback xmlns="">
      <p:transition spd="slow" advTm="8036"/>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56B227-A80B-43BE-BAE6-FC02A706495E}"/>
              </a:ext>
            </a:extLst>
          </p:cNvPr>
          <p:cNvSpPr>
            <a:spLocks noGrp="1"/>
          </p:cNvSpPr>
          <p:nvPr>
            <p:ph type="title"/>
          </p:nvPr>
        </p:nvSpPr>
        <p:spPr/>
        <p:txBody>
          <a:bodyPr/>
          <a:lstStyle/>
          <a:p>
            <a:r>
              <a:rPr lang="en-US" dirty="0"/>
              <a:t>Autism Dataset Background</a:t>
            </a:r>
          </a:p>
        </p:txBody>
      </p:sp>
      <p:sp>
        <p:nvSpPr>
          <p:cNvPr id="3" name="Content Placeholder 2">
            <a:extLst>
              <a:ext uri="{FF2B5EF4-FFF2-40B4-BE49-F238E27FC236}">
                <a16:creationId xmlns:a16="http://schemas.microsoft.com/office/drawing/2014/main" id="{82B146BC-6D4E-4719-A013-85C7B89D0DB0}"/>
              </a:ext>
            </a:extLst>
          </p:cNvPr>
          <p:cNvSpPr>
            <a:spLocks noGrp="1"/>
          </p:cNvSpPr>
          <p:nvPr>
            <p:ph idx="1"/>
          </p:nvPr>
        </p:nvSpPr>
        <p:spPr>
          <a:xfrm>
            <a:off x="232379" y="1988023"/>
            <a:ext cx="6621003" cy="4065458"/>
          </a:xfrm>
        </p:spPr>
        <p:txBody>
          <a:bodyPr>
            <a:normAutofit fontScale="85000" lnSpcReduction="10000"/>
          </a:bodyPr>
          <a:lstStyle/>
          <a:p>
            <a:r>
              <a:rPr lang="en-US" sz="1900" dirty="0">
                <a:effectLst/>
                <a:ea typeface="Calibri" panose="020F0502020204030204" pitchFamily="34" charset="0"/>
              </a:rPr>
              <a:t>University of Michigan (Anderson et al. 2009) as part of a prospective longitudinal study </a:t>
            </a:r>
          </a:p>
          <a:p>
            <a:r>
              <a:rPr lang="en-US" sz="1900" dirty="0"/>
              <a:t>155 children enrolled in the study</a:t>
            </a:r>
          </a:p>
          <a:p>
            <a:r>
              <a:rPr lang="en-US" sz="1900" dirty="0"/>
              <a:t>Children either had Autism or </a:t>
            </a:r>
            <a:r>
              <a:rPr lang="en-US" sz="1900" dirty="0">
                <a:effectLst/>
                <a:ea typeface="Calibri" panose="020F0502020204030204" pitchFamily="34" charset="0"/>
              </a:rPr>
              <a:t>Pervasive Developmental Disorder (PDD)</a:t>
            </a:r>
            <a:endParaRPr lang="en-US" sz="1900" dirty="0"/>
          </a:p>
          <a:p>
            <a:r>
              <a:rPr lang="en-US" sz="1900" dirty="0"/>
              <a:t>5 visits evaluated age 2, 3, 5, 9, and 13</a:t>
            </a:r>
          </a:p>
          <a:p>
            <a:r>
              <a:rPr lang="en-US" sz="1900" dirty="0"/>
              <a:t>Outcome = </a:t>
            </a:r>
            <a:r>
              <a:rPr lang="en-US" sz="1900" dirty="0">
                <a:effectLst/>
                <a:ea typeface="Calibri" panose="020F0502020204030204" pitchFamily="34" charset="0"/>
              </a:rPr>
              <a:t>Vineland Socialization Age Equivalent (VSAE),</a:t>
            </a:r>
          </a:p>
          <a:p>
            <a:pPr lvl="1"/>
            <a:r>
              <a:rPr lang="en-US" sz="1900" dirty="0">
                <a:effectLst/>
                <a:ea typeface="Calibri" panose="020F0502020204030204" pitchFamily="34" charset="0"/>
              </a:rPr>
              <a:t>social development score</a:t>
            </a:r>
          </a:p>
          <a:p>
            <a:r>
              <a:rPr lang="en-US" sz="1900" dirty="0"/>
              <a:t>Used Mixed Linear Effects model </a:t>
            </a:r>
          </a:p>
          <a:p>
            <a:pPr lvl="1"/>
            <a:r>
              <a:rPr lang="en-US" sz="1900" dirty="0"/>
              <a:t>Data was missing at random</a:t>
            </a:r>
          </a:p>
          <a:p>
            <a:pPr lvl="2"/>
            <a:r>
              <a:rPr lang="en-US" sz="1900" dirty="0"/>
              <a:t>Children either dropped out of study, were non-responsive for 1-3 visits, or had all 5 visits</a:t>
            </a:r>
          </a:p>
          <a:p>
            <a:endParaRPr lang="en-US" dirty="0"/>
          </a:p>
        </p:txBody>
      </p:sp>
      <p:graphicFrame>
        <p:nvGraphicFramePr>
          <p:cNvPr id="5" name="Content Placeholder 3">
            <a:extLst>
              <a:ext uri="{FF2B5EF4-FFF2-40B4-BE49-F238E27FC236}">
                <a16:creationId xmlns:a16="http://schemas.microsoft.com/office/drawing/2014/main" id="{70131140-C9AB-40ED-A903-7F13506E2FB3}"/>
              </a:ext>
            </a:extLst>
          </p:cNvPr>
          <p:cNvGraphicFramePr>
            <a:graphicFrameLocks/>
          </p:cNvGraphicFramePr>
          <p:nvPr>
            <p:extLst>
              <p:ext uri="{D42A27DB-BD31-4B8C-83A1-F6EECF244321}">
                <p14:modId xmlns:p14="http://schemas.microsoft.com/office/powerpoint/2010/main" val="2193622186"/>
              </p:ext>
            </p:extLst>
          </p:nvPr>
        </p:nvGraphicFramePr>
        <p:xfrm>
          <a:off x="6996544" y="2173144"/>
          <a:ext cx="4870714" cy="2615911"/>
        </p:xfrm>
        <a:graphic>
          <a:graphicData uri="http://schemas.openxmlformats.org/drawingml/2006/table">
            <a:tbl>
              <a:tblPr firstRow="1" firstCol="1" bandRow="1">
                <a:tableStyleId>{5A111915-BE36-4E01-A7E5-04B1672EAD32}</a:tableStyleId>
              </a:tblPr>
              <a:tblGrid>
                <a:gridCol w="1856680">
                  <a:extLst>
                    <a:ext uri="{9D8B030D-6E8A-4147-A177-3AD203B41FA5}">
                      <a16:colId xmlns:a16="http://schemas.microsoft.com/office/drawing/2014/main" val="1614700495"/>
                    </a:ext>
                  </a:extLst>
                </a:gridCol>
                <a:gridCol w="1649338">
                  <a:extLst>
                    <a:ext uri="{9D8B030D-6E8A-4147-A177-3AD203B41FA5}">
                      <a16:colId xmlns:a16="http://schemas.microsoft.com/office/drawing/2014/main" val="1159756051"/>
                    </a:ext>
                  </a:extLst>
                </a:gridCol>
                <a:gridCol w="1364696">
                  <a:extLst>
                    <a:ext uri="{9D8B030D-6E8A-4147-A177-3AD203B41FA5}">
                      <a16:colId xmlns:a16="http://schemas.microsoft.com/office/drawing/2014/main" val="1576529362"/>
                    </a:ext>
                  </a:extLst>
                </a:gridCol>
              </a:tblGrid>
              <a:tr h="747401">
                <a:tc>
                  <a:txBody>
                    <a:bodyPr/>
                    <a:lstStyle/>
                    <a:p>
                      <a:pPr marL="0" marR="0" algn="ctr">
                        <a:spcBef>
                          <a:spcPts val="0"/>
                        </a:spcBef>
                        <a:spcAft>
                          <a:spcPts val="0"/>
                        </a:spcAft>
                      </a:pPr>
                      <a:r>
                        <a:rPr lang="en-US" sz="1200" dirty="0">
                          <a:effectLst/>
                        </a:rPr>
                        <a:t>Total Number of Visits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Number of Children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ctr">
                        <a:spcBef>
                          <a:spcPts val="0"/>
                        </a:spcBef>
                        <a:spcAft>
                          <a:spcPts val="0"/>
                        </a:spcAft>
                      </a:pPr>
                      <a:r>
                        <a:rPr lang="en-US" sz="1200">
                          <a:effectLst/>
                        </a:rPr>
                        <a:t>Percentage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56479282"/>
                  </a:ext>
                </a:extLst>
              </a:tr>
              <a:tr h="373702">
                <a:tc>
                  <a:txBody>
                    <a:bodyPr/>
                    <a:lstStyle/>
                    <a:p>
                      <a:pPr marL="0" marR="0" algn="ctr">
                        <a:spcBef>
                          <a:spcPts val="0"/>
                        </a:spcBef>
                        <a:spcAft>
                          <a:spcPts val="0"/>
                        </a:spcAft>
                      </a:pPr>
                      <a:r>
                        <a:rPr lang="en-US" sz="1200" dirty="0">
                          <a:effectLst/>
                        </a:rPr>
                        <a:t>1</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a:effectLst/>
                        </a:rPr>
                        <a:t>2</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a:effectLst/>
                        </a:rPr>
                        <a:t>1.29</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1592979899"/>
                  </a:ext>
                </a:extLst>
              </a:tr>
              <a:tr h="373702">
                <a:tc>
                  <a:txBody>
                    <a:bodyPr/>
                    <a:lstStyle/>
                    <a:p>
                      <a:pPr marL="0" marR="0" algn="ctr">
                        <a:spcBef>
                          <a:spcPts val="0"/>
                        </a:spcBef>
                        <a:spcAft>
                          <a:spcPts val="0"/>
                        </a:spcAft>
                      </a:pPr>
                      <a:r>
                        <a:rPr lang="en-US" sz="1200" dirty="0">
                          <a:effectLst/>
                        </a:rPr>
                        <a:t>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a:effectLst/>
                        </a:rPr>
                        <a:t>11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a:effectLst/>
                        </a:rPr>
                        <a:t>7.1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2430501494"/>
                  </a:ext>
                </a:extLst>
              </a:tr>
              <a:tr h="373702">
                <a:tc>
                  <a:txBody>
                    <a:bodyPr/>
                    <a:lstStyle/>
                    <a:p>
                      <a:pPr marL="0" marR="0" algn="ctr">
                        <a:spcBef>
                          <a:spcPts val="0"/>
                        </a:spcBef>
                        <a:spcAft>
                          <a:spcPts val="0"/>
                        </a:spcAft>
                      </a:pPr>
                      <a:r>
                        <a:rPr lang="en-US" sz="1200">
                          <a:effectLst/>
                        </a:rPr>
                        <a:t>3</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dirty="0">
                          <a:effectLst/>
                        </a:rPr>
                        <a:t>29</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a:effectLst/>
                        </a:rPr>
                        <a:t>18.71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14089868"/>
                  </a:ext>
                </a:extLst>
              </a:tr>
              <a:tr h="373702">
                <a:tc>
                  <a:txBody>
                    <a:bodyPr/>
                    <a:lstStyle/>
                    <a:p>
                      <a:pPr marL="0" marR="0" algn="ctr">
                        <a:spcBef>
                          <a:spcPts val="0"/>
                        </a:spcBef>
                        <a:spcAft>
                          <a:spcPts val="0"/>
                        </a:spcAft>
                      </a:pPr>
                      <a:r>
                        <a:rPr lang="en-US" sz="1200">
                          <a:effectLst/>
                        </a:rPr>
                        <a:t>4</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dirty="0">
                          <a:effectLst/>
                        </a:rPr>
                        <a:t>72</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dirty="0">
                          <a:effectLst/>
                        </a:rPr>
                        <a:t>46.45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2336690390"/>
                  </a:ext>
                </a:extLst>
              </a:tr>
              <a:tr h="373702">
                <a:tc>
                  <a:txBody>
                    <a:bodyPr/>
                    <a:lstStyle/>
                    <a:p>
                      <a:pPr marL="0" marR="0" algn="ctr">
                        <a:spcBef>
                          <a:spcPts val="0"/>
                        </a:spcBef>
                        <a:spcAft>
                          <a:spcPts val="0"/>
                        </a:spcAft>
                      </a:pPr>
                      <a:r>
                        <a:rPr lang="en-US" sz="1200">
                          <a:effectLst/>
                        </a:rPr>
                        <a:t>5</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a:effectLst/>
                        </a:rPr>
                        <a:t>41</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tc>
                  <a:txBody>
                    <a:bodyPr/>
                    <a:lstStyle/>
                    <a:p>
                      <a:pPr marL="0" marR="0" algn="ctr">
                        <a:spcBef>
                          <a:spcPts val="0"/>
                        </a:spcBef>
                        <a:spcAft>
                          <a:spcPts val="0"/>
                        </a:spcAft>
                      </a:pPr>
                      <a:r>
                        <a:rPr lang="en-US" sz="1200" dirty="0">
                          <a:effectLst/>
                        </a:rPr>
                        <a:t>26.45</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solidFill>
                  </a:tcPr>
                </a:tc>
                <a:extLst>
                  <a:ext uri="{0D108BD9-81ED-4DB2-BD59-A6C34878D82A}">
                    <a16:rowId xmlns:a16="http://schemas.microsoft.com/office/drawing/2014/main" val="3900807969"/>
                  </a:ext>
                </a:extLst>
              </a:tr>
            </a:tbl>
          </a:graphicData>
        </a:graphic>
      </p:graphicFrame>
    </p:spTree>
    <p:extLst>
      <p:ext uri="{BB962C8B-B14F-4D97-AF65-F5344CB8AC3E}">
        <p14:creationId xmlns:p14="http://schemas.microsoft.com/office/powerpoint/2010/main" val="1410620910"/>
      </p:ext>
    </p:extLst>
  </p:cSld>
  <p:clrMapOvr>
    <a:masterClrMapping/>
  </p:clrMapOvr>
  <mc:AlternateContent xmlns:mc="http://schemas.openxmlformats.org/markup-compatibility/2006" xmlns:p14="http://schemas.microsoft.com/office/powerpoint/2010/main">
    <mc:Choice Requires="p14">
      <p:transition spd="slow" p14:dur="2000" advTm="88087"/>
    </mc:Choice>
    <mc:Fallback xmlns="">
      <p:transition spd="slow" advTm="88087"/>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F1E1D-0384-436D-842D-28E7C37867EA}"/>
              </a:ext>
            </a:extLst>
          </p:cNvPr>
          <p:cNvSpPr>
            <a:spLocks noGrp="1"/>
          </p:cNvSpPr>
          <p:nvPr>
            <p:ph type="title"/>
          </p:nvPr>
        </p:nvSpPr>
        <p:spPr/>
        <p:txBody>
          <a:bodyPr/>
          <a:lstStyle/>
          <a:p>
            <a:r>
              <a:rPr lang="en-US" dirty="0"/>
              <a:t>Research Questions</a:t>
            </a:r>
          </a:p>
        </p:txBody>
      </p:sp>
      <p:sp>
        <p:nvSpPr>
          <p:cNvPr id="3" name="Content Placeholder 2">
            <a:extLst>
              <a:ext uri="{FF2B5EF4-FFF2-40B4-BE49-F238E27FC236}">
                <a16:creationId xmlns:a16="http://schemas.microsoft.com/office/drawing/2014/main" id="{84392CB8-71A6-4752-8171-A427BE6830AE}"/>
              </a:ext>
            </a:extLst>
          </p:cNvPr>
          <p:cNvSpPr>
            <a:spLocks noGrp="1"/>
          </p:cNvSpPr>
          <p:nvPr>
            <p:ph idx="1"/>
          </p:nvPr>
        </p:nvSpPr>
        <p:spPr>
          <a:xfrm>
            <a:off x="420255" y="2015732"/>
            <a:ext cx="11411527" cy="3946341"/>
          </a:xfrm>
        </p:spPr>
        <p:txBody>
          <a:bodyPr>
            <a:normAutofit lnSpcReduction="10000"/>
          </a:bodyPr>
          <a:lstStyle/>
          <a:p>
            <a:pPr marL="342900" marR="0" lvl="0" indent="-342900">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Do children with different language proficiency at age 2 have different levels of social development as they get older? If yes, is this statistically significant and if so, how well does this predict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vsae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Do children diagnosed with autism at age 2 have different levels of social development as they get older than children diagnosed with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pdd</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age 2? If yes, is this statistically significant and if so, how well does this predict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vsae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342900" marR="0" lvl="0" indent="-342900">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Do children whose race is categorized as white at age 2 have different levels of social development as they get older than children whose race is categorized as non-white at age 2? If yes, is this statistically significant and if so, how well does this predict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vsae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Is gender predictive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vsae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Do children who are male at age 2 have different levels of social development as they get older than children who are female at age 2? If yes, are they statistically significant and if so, how well does this predict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vsae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p>
          <a:p>
            <a:pPr marL="342900" marR="0" lvl="0" indent="-342900">
              <a:spcBef>
                <a:spcPts val="0"/>
              </a:spcBef>
              <a:spcAft>
                <a:spcPts val="0"/>
              </a:spcAft>
              <a:buFont typeface="+mj-lt"/>
              <a:buAutoNum type="arabicPeriod"/>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Are there other variables in this dataset predictive of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vsae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If yes, are they statistically significant and if so, how well does this predict </a:t>
            </a:r>
            <a:r>
              <a:rPr lang="en-US" sz="1800" dirty="0" err="1">
                <a:effectLst/>
                <a:latin typeface="Times New Roman" panose="02020603050405020304" pitchFamily="18" charset="0"/>
                <a:ea typeface="Calibri" panose="020F0502020204030204" pitchFamily="34" charset="0"/>
                <a:cs typeface="Times New Roman" panose="02020603050405020304" pitchFamily="18" charset="0"/>
              </a:rPr>
              <a:t>vsae</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 </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8951761"/>
      </p:ext>
    </p:extLst>
  </p:cSld>
  <p:clrMapOvr>
    <a:masterClrMapping/>
  </p:clrMapOvr>
  <mc:AlternateContent xmlns:mc="http://schemas.openxmlformats.org/markup-compatibility/2006" xmlns:p14="http://schemas.microsoft.com/office/powerpoint/2010/main">
    <mc:Choice Requires="p14">
      <p:transition spd="slow" p14:dur="2000" advTm="74377"/>
    </mc:Choice>
    <mc:Fallback xmlns="">
      <p:transition spd="slow" advTm="7437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59" name="Rectangle 158">
            <a:extLst>
              <a:ext uri="{FF2B5EF4-FFF2-40B4-BE49-F238E27FC236}">
                <a16:creationId xmlns:a16="http://schemas.microsoft.com/office/drawing/2014/main" id="{84C75E2B-CACA-478C-B26B-182AF87A18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61" name="Picture 160">
            <a:extLst>
              <a:ext uri="{FF2B5EF4-FFF2-40B4-BE49-F238E27FC236}">
                <a16:creationId xmlns:a16="http://schemas.microsoft.com/office/drawing/2014/main" id="{50FF2874-547C-4D14-9E18-28B19002FB8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63" name="Straight Connector 162">
            <a:extLst>
              <a:ext uri="{FF2B5EF4-FFF2-40B4-BE49-F238E27FC236}">
                <a16:creationId xmlns:a16="http://schemas.microsoft.com/office/drawing/2014/main" id="{36CF827D-A163-47F7-BD87-34EB4FA7D69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56" name="Straight Connector 164">
            <a:extLst>
              <a:ext uri="{FF2B5EF4-FFF2-40B4-BE49-F238E27FC236}">
                <a16:creationId xmlns:a16="http://schemas.microsoft.com/office/drawing/2014/main" id="{D299D9A9-1DA8-433D-A9BC-FB48D93D421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a:extLst>
              <a:ext uri="{FF2B5EF4-FFF2-40B4-BE49-F238E27FC236}">
                <a16:creationId xmlns:a16="http://schemas.microsoft.com/office/drawing/2014/main" id="{4BC0A1C2-C3C8-499E-B03D-27F1DDE81A52}"/>
              </a:ext>
            </a:extLst>
          </p:cNvPr>
          <p:cNvSpPr>
            <a:spLocks noGrp="1"/>
          </p:cNvSpPr>
          <p:nvPr>
            <p:ph type="title"/>
          </p:nvPr>
        </p:nvSpPr>
        <p:spPr>
          <a:xfrm>
            <a:off x="1451579" y="804519"/>
            <a:ext cx="9603275" cy="1049235"/>
          </a:xfrm>
        </p:spPr>
        <p:txBody>
          <a:bodyPr vert="horz" lIns="91440" tIns="45720" rIns="91440" bIns="45720" rtlCol="0" anchor="t">
            <a:normAutofit/>
          </a:bodyPr>
          <a:lstStyle/>
          <a:p>
            <a:r>
              <a:rPr lang="en-US"/>
              <a:t>Summary Statistics</a:t>
            </a:r>
          </a:p>
        </p:txBody>
      </p:sp>
      <p:graphicFrame>
        <p:nvGraphicFramePr>
          <p:cNvPr id="154" name="Content Placeholder 3">
            <a:extLst>
              <a:ext uri="{FF2B5EF4-FFF2-40B4-BE49-F238E27FC236}">
                <a16:creationId xmlns:a16="http://schemas.microsoft.com/office/drawing/2014/main" id="{461A13B0-DB57-4C5F-9D99-A8BF038A71AC}"/>
              </a:ext>
            </a:extLst>
          </p:cNvPr>
          <p:cNvGraphicFramePr>
            <a:graphicFrameLocks noGrp="1"/>
          </p:cNvGraphicFramePr>
          <p:nvPr>
            <p:ph idx="1"/>
            <p:extLst>
              <p:ext uri="{D42A27DB-BD31-4B8C-83A1-F6EECF244321}">
                <p14:modId xmlns:p14="http://schemas.microsoft.com/office/powerpoint/2010/main" val="3437650910"/>
              </p:ext>
            </p:extLst>
          </p:nvPr>
        </p:nvGraphicFramePr>
        <p:xfrm>
          <a:off x="512619" y="2149466"/>
          <a:ext cx="11129816" cy="3609411"/>
        </p:xfrm>
        <a:graphic>
          <a:graphicData uri="http://schemas.openxmlformats.org/drawingml/2006/table">
            <a:tbl>
              <a:tblPr firstRow="1" firstCol="1" bandRow="1">
                <a:solidFill>
                  <a:srgbClr val="F7F7F7"/>
                </a:solidFill>
              </a:tblPr>
              <a:tblGrid>
                <a:gridCol w="2261441">
                  <a:extLst>
                    <a:ext uri="{9D8B030D-6E8A-4147-A177-3AD203B41FA5}">
                      <a16:colId xmlns:a16="http://schemas.microsoft.com/office/drawing/2014/main" val="2957385187"/>
                    </a:ext>
                  </a:extLst>
                </a:gridCol>
                <a:gridCol w="1484591">
                  <a:extLst>
                    <a:ext uri="{9D8B030D-6E8A-4147-A177-3AD203B41FA5}">
                      <a16:colId xmlns:a16="http://schemas.microsoft.com/office/drawing/2014/main" val="1877954236"/>
                    </a:ext>
                  </a:extLst>
                </a:gridCol>
                <a:gridCol w="1520354">
                  <a:extLst>
                    <a:ext uri="{9D8B030D-6E8A-4147-A177-3AD203B41FA5}">
                      <a16:colId xmlns:a16="http://schemas.microsoft.com/office/drawing/2014/main" val="2010249131"/>
                    </a:ext>
                  </a:extLst>
                </a:gridCol>
                <a:gridCol w="1520354">
                  <a:extLst>
                    <a:ext uri="{9D8B030D-6E8A-4147-A177-3AD203B41FA5}">
                      <a16:colId xmlns:a16="http://schemas.microsoft.com/office/drawing/2014/main" val="2406030709"/>
                    </a:ext>
                  </a:extLst>
                </a:gridCol>
                <a:gridCol w="1411361">
                  <a:extLst>
                    <a:ext uri="{9D8B030D-6E8A-4147-A177-3AD203B41FA5}">
                      <a16:colId xmlns:a16="http://schemas.microsoft.com/office/drawing/2014/main" val="3355064260"/>
                    </a:ext>
                  </a:extLst>
                </a:gridCol>
                <a:gridCol w="1520354">
                  <a:extLst>
                    <a:ext uri="{9D8B030D-6E8A-4147-A177-3AD203B41FA5}">
                      <a16:colId xmlns:a16="http://schemas.microsoft.com/office/drawing/2014/main" val="3609009132"/>
                    </a:ext>
                  </a:extLst>
                </a:gridCol>
                <a:gridCol w="1411361">
                  <a:extLst>
                    <a:ext uri="{9D8B030D-6E8A-4147-A177-3AD203B41FA5}">
                      <a16:colId xmlns:a16="http://schemas.microsoft.com/office/drawing/2014/main" val="658722972"/>
                    </a:ext>
                  </a:extLst>
                </a:gridCol>
              </a:tblGrid>
              <a:tr h="407571">
                <a:tc rowSpan="2">
                  <a:txBody>
                    <a:bodyPr/>
                    <a:lstStyle/>
                    <a:p>
                      <a:pPr marL="0" marR="0" algn="ctr" fontAlgn="t">
                        <a:spcBef>
                          <a:spcPts val="0"/>
                        </a:spcBef>
                        <a:spcAft>
                          <a:spcPts val="0"/>
                        </a:spcAft>
                      </a:pPr>
                      <a:r>
                        <a:rPr lang="en-US" sz="900" b="1" i="0" u="none" strike="noStrike" cap="all" spc="6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Characteristic</a:t>
                      </a:r>
                      <a:endParaRPr lang="en-US" sz="900" b="1" i="0" u="none" strike="noStrike" cap="all" spc="60">
                        <a:solidFill>
                          <a:schemeClr val="tx1"/>
                        </a:solidFill>
                        <a:effectLst/>
                        <a:latin typeface="Arial" panose="020B0604020202020204" pitchFamily="34" charset="0"/>
                      </a:endParaRPr>
                    </a:p>
                  </a:txBody>
                  <a:tcPr marL="99844" marR="99844" marT="99844" marB="99844" anchor="b">
                    <a:lnL w="12700" cmpd="sng">
                      <a:noFill/>
                      <a:prstDash val="solid"/>
                    </a:lnL>
                    <a:lnR w="12700" cmpd="sng">
                      <a:noFill/>
                      <a:prstDash val="solid"/>
                    </a:lnR>
                    <a:lnT w="12700" cmpd="sng">
                      <a:noFill/>
                    </a:lnT>
                    <a:lnB w="12700" cmpd="sng">
                      <a:noFill/>
                      <a:prstDash val="solid"/>
                    </a:lnB>
                    <a:noFill/>
                  </a:tcPr>
                </a:tc>
                <a:tc rowSpan="2">
                  <a:txBody>
                    <a:bodyPr/>
                    <a:lstStyle/>
                    <a:p>
                      <a:pPr marL="0" marR="0" algn="ctr" fontAlgn="t">
                        <a:spcBef>
                          <a:spcPts val="0"/>
                        </a:spcBef>
                        <a:spcAft>
                          <a:spcPts val="0"/>
                        </a:spcAft>
                      </a:pPr>
                      <a:r>
                        <a:rPr lang="en-US" sz="900" b="1" i="0" u="none" strike="noStrike" cap="all" spc="6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Level</a:t>
                      </a:r>
                      <a:endParaRPr lang="en-US" sz="900" b="1" i="0" u="none" strike="noStrike" cap="all" spc="60">
                        <a:solidFill>
                          <a:schemeClr val="tx1"/>
                        </a:solidFill>
                        <a:effectLst/>
                        <a:latin typeface="Arial" panose="020B0604020202020204" pitchFamily="34" charset="0"/>
                      </a:endParaRPr>
                    </a:p>
                  </a:txBody>
                  <a:tcPr marL="99844" marR="99844" marT="99844" marB="99844" anchor="b">
                    <a:lnL w="12700" cmpd="sng">
                      <a:noFill/>
                      <a:prstDash val="solid"/>
                    </a:lnL>
                    <a:lnR w="12700" cmpd="sng">
                      <a:noFill/>
                      <a:prstDash val="solid"/>
                    </a:lnR>
                    <a:lnT w="12700" cmpd="sng">
                      <a:noFill/>
                    </a:lnT>
                    <a:lnB w="12700" cmpd="sng">
                      <a:noFill/>
                      <a:prstDash val="solid"/>
                    </a:lnB>
                    <a:noFill/>
                  </a:tcPr>
                </a:tc>
                <a:tc>
                  <a:txBody>
                    <a:bodyPr/>
                    <a:lstStyle/>
                    <a:p>
                      <a:pPr marL="0" marR="0" algn="ctr" fontAlgn="t">
                        <a:spcBef>
                          <a:spcPts val="0"/>
                        </a:spcBef>
                        <a:spcAft>
                          <a:spcPts val="0"/>
                        </a:spcAft>
                      </a:pPr>
                      <a:r>
                        <a:rPr lang="en-US" sz="900" b="1" i="0" u="none" strike="noStrike" cap="all" spc="6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Age=2</a:t>
                      </a:r>
                      <a:endParaRPr lang="en-US" sz="900" b="1" i="0" u="none" strike="noStrike" cap="all" spc="60">
                        <a:solidFill>
                          <a:schemeClr val="tx1"/>
                        </a:solidFill>
                        <a:effectLst/>
                        <a:latin typeface="Arial" panose="020B0604020202020204" pitchFamily="34" charset="0"/>
                      </a:endParaRPr>
                    </a:p>
                  </a:txBody>
                  <a:tcPr marL="99844" marR="99844" marT="99844" marB="99844" anchor="b">
                    <a:lnL w="12700" cmpd="sng">
                      <a:noFill/>
                      <a:prstDash val="solid"/>
                    </a:lnL>
                    <a:lnR w="12700" cmpd="sng">
                      <a:noFill/>
                      <a:prstDash val="solid"/>
                    </a:lnR>
                    <a:lnT w="12700" cmpd="sng">
                      <a:noFill/>
                    </a:lnT>
                    <a:lnB w="12700" cmpd="sng">
                      <a:noFill/>
                      <a:prstDash val="solid"/>
                    </a:lnB>
                    <a:noFill/>
                  </a:tcPr>
                </a:tc>
                <a:tc>
                  <a:txBody>
                    <a:bodyPr/>
                    <a:lstStyle/>
                    <a:p>
                      <a:pPr marL="0" marR="0" algn="ctr" fontAlgn="t">
                        <a:spcBef>
                          <a:spcPts val="0"/>
                        </a:spcBef>
                        <a:spcAft>
                          <a:spcPts val="0"/>
                        </a:spcAft>
                      </a:pPr>
                      <a:r>
                        <a:rPr lang="en-US" sz="900" b="1" i="0" u="none" strike="noStrike" cap="all" spc="6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Age=3</a:t>
                      </a:r>
                      <a:endParaRPr lang="en-US" sz="900" b="1" i="0" u="none" strike="noStrike" cap="all" spc="60">
                        <a:solidFill>
                          <a:schemeClr val="tx1"/>
                        </a:solidFill>
                        <a:effectLst/>
                        <a:latin typeface="Arial" panose="020B0604020202020204" pitchFamily="34" charset="0"/>
                      </a:endParaRPr>
                    </a:p>
                  </a:txBody>
                  <a:tcPr marL="99844" marR="99844" marT="99844" marB="99844" anchor="b">
                    <a:lnL w="12700" cmpd="sng">
                      <a:noFill/>
                      <a:prstDash val="solid"/>
                    </a:lnL>
                    <a:lnR w="12700" cmpd="sng">
                      <a:noFill/>
                      <a:prstDash val="solid"/>
                    </a:lnR>
                    <a:lnT w="12700" cmpd="sng">
                      <a:noFill/>
                    </a:lnT>
                    <a:lnB w="12700" cmpd="sng">
                      <a:noFill/>
                      <a:prstDash val="solid"/>
                    </a:lnB>
                    <a:noFill/>
                  </a:tcPr>
                </a:tc>
                <a:tc>
                  <a:txBody>
                    <a:bodyPr/>
                    <a:lstStyle/>
                    <a:p>
                      <a:pPr marL="0" marR="0" algn="ctr" fontAlgn="t">
                        <a:spcBef>
                          <a:spcPts val="0"/>
                        </a:spcBef>
                        <a:spcAft>
                          <a:spcPts val="0"/>
                        </a:spcAft>
                      </a:pPr>
                      <a:r>
                        <a:rPr lang="en-US" sz="900" b="1" i="0" u="none" strike="noStrike" cap="all" spc="6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Age=5</a:t>
                      </a:r>
                      <a:endParaRPr lang="en-US" sz="900" b="1" i="0" u="none" strike="noStrike" cap="all" spc="60">
                        <a:solidFill>
                          <a:schemeClr val="tx1"/>
                        </a:solidFill>
                        <a:effectLst/>
                        <a:latin typeface="Arial" panose="020B0604020202020204" pitchFamily="34" charset="0"/>
                      </a:endParaRPr>
                    </a:p>
                  </a:txBody>
                  <a:tcPr marL="99844" marR="99844" marT="99844" marB="99844" anchor="b">
                    <a:lnL w="12700" cmpd="sng">
                      <a:noFill/>
                      <a:prstDash val="solid"/>
                    </a:lnL>
                    <a:lnR w="12700" cmpd="sng">
                      <a:noFill/>
                      <a:prstDash val="solid"/>
                    </a:lnR>
                    <a:lnT w="12700" cmpd="sng">
                      <a:noFill/>
                    </a:lnT>
                    <a:lnB w="12700" cmpd="sng">
                      <a:noFill/>
                      <a:prstDash val="solid"/>
                    </a:lnB>
                    <a:noFill/>
                  </a:tcPr>
                </a:tc>
                <a:tc>
                  <a:txBody>
                    <a:bodyPr/>
                    <a:lstStyle/>
                    <a:p>
                      <a:pPr marL="0" marR="0" algn="ctr" fontAlgn="t">
                        <a:spcBef>
                          <a:spcPts val="0"/>
                        </a:spcBef>
                        <a:spcAft>
                          <a:spcPts val="0"/>
                        </a:spcAft>
                      </a:pPr>
                      <a:r>
                        <a:rPr lang="en-US" sz="900" b="1" i="0" u="none" strike="noStrike" cap="all" spc="6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Age=9</a:t>
                      </a:r>
                      <a:endParaRPr lang="en-US" sz="900" b="1" i="0" u="none" strike="noStrike" cap="all" spc="60">
                        <a:solidFill>
                          <a:schemeClr val="tx1"/>
                        </a:solidFill>
                        <a:effectLst/>
                        <a:latin typeface="Arial" panose="020B0604020202020204" pitchFamily="34" charset="0"/>
                      </a:endParaRPr>
                    </a:p>
                  </a:txBody>
                  <a:tcPr marL="99844" marR="99844" marT="99844" marB="99844" anchor="b">
                    <a:lnL w="12700" cmpd="sng">
                      <a:noFill/>
                      <a:prstDash val="solid"/>
                    </a:lnL>
                    <a:lnR w="12700" cmpd="sng">
                      <a:noFill/>
                      <a:prstDash val="solid"/>
                    </a:lnR>
                    <a:lnT w="12700" cmpd="sng">
                      <a:noFill/>
                    </a:lnT>
                    <a:lnB w="12700" cmpd="sng">
                      <a:noFill/>
                      <a:prstDash val="solid"/>
                    </a:lnB>
                    <a:noFill/>
                  </a:tcPr>
                </a:tc>
                <a:tc>
                  <a:txBody>
                    <a:bodyPr/>
                    <a:lstStyle/>
                    <a:p>
                      <a:pPr marL="0" marR="0" algn="ctr" fontAlgn="t">
                        <a:spcBef>
                          <a:spcPts val="0"/>
                        </a:spcBef>
                        <a:spcAft>
                          <a:spcPts val="0"/>
                        </a:spcAft>
                      </a:pPr>
                      <a:r>
                        <a:rPr lang="en-US" sz="900" b="1" i="0" u="none" strike="noStrike" cap="all" spc="6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Age=13</a:t>
                      </a:r>
                      <a:endParaRPr lang="en-US" sz="900" b="1" i="0" u="none" strike="noStrike" cap="all" spc="60">
                        <a:solidFill>
                          <a:schemeClr val="tx1"/>
                        </a:solidFill>
                        <a:effectLst/>
                        <a:latin typeface="Arial" panose="020B0604020202020204" pitchFamily="34" charset="0"/>
                      </a:endParaRPr>
                    </a:p>
                  </a:txBody>
                  <a:tcPr marL="99844" marR="99844" marT="99844" marB="99844" anchor="b">
                    <a:lnL w="12700" cmpd="sng">
                      <a:noFill/>
                      <a:prstDash val="solid"/>
                    </a:lnL>
                    <a:lnR w="12700" cmpd="sng">
                      <a:noFill/>
                      <a:prstDash val="solid"/>
                    </a:lnR>
                    <a:lnT w="12700" cmpd="sng">
                      <a:noFill/>
                    </a:lnT>
                    <a:lnB w="12700" cmpd="sng">
                      <a:noFill/>
                      <a:prstDash val="solid"/>
                    </a:lnB>
                    <a:noFill/>
                  </a:tcPr>
                </a:tc>
                <a:extLst>
                  <a:ext uri="{0D108BD9-81ED-4DB2-BD59-A6C34878D82A}">
                    <a16:rowId xmlns:a16="http://schemas.microsoft.com/office/drawing/2014/main" val="483384081"/>
                  </a:ext>
                </a:extLst>
              </a:tr>
              <a:tr h="320184">
                <a:tc vMerge="1">
                  <a:txBody>
                    <a:bodyPr/>
                    <a:lstStyle/>
                    <a:p>
                      <a:endParaRPr lang="en-US"/>
                    </a:p>
                  </a:txBody>
                  <a:tcPr/>
                </a:tc>
                <a:tc vMerge="1">
                  <a:txBody>
                    <a:bodyPr/>
                    <a:lstStyle/>
                    <a:p>
                      <a:endParaRPr lang="en-US"/>
                    </a:p>
                  </a:txBody>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 (%)</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 (%)</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 (%)</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 (%)</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 (%)</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4095914579"/>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Diagnosis</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Autism</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100 (64.94)</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95 (65.07)</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55 (60.44)</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76 (63.87)</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63 (67.02)</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783504197"/>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PDD</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54 (35.06)</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51 (34.93)</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36 (39.56)</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43 (36.13)</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31 (32.98)</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739721719"/>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Race</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Non-White</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54 (35.06)</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52 (35.62)</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43 (47.25)</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35 (29.41)</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 (21.28)</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435835403"/>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White</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100 (64.94)</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94 (64.38)</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48 (52.75)</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84 (70.59)</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74 (78.72)</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723718127"/>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Gender</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Female</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20 (12.99)</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21 (14.38)</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 (13.19)</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14 (11.76)</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11 (11.7)</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40607987"/>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Male</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134 (87.01)</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125 (85.62)</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79 (86.81)</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105 (88.24)</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83 (88.3)</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2626540989"/>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Language</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Low</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49 (31.82)</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46 (31.51)</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29 (31.87)</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36 (30.25)</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28 (29.79)</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chemeClr val="bg1">
                        <a:lumMod val="85000"/>
                      </a:schemeClr>
                    </a:solidFill>
                  </a:tcPr>
                </a:tc>
                <a:extLst>
                  <a:ext uri="{0D108BD9-81ED-4DB2-BD59-A6C34878D82A}">
                    <a16:rowId xmlns:a16="http://schemas.microsoft.com/office/drawing/2014/main" val="2182702914"/>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Medium</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65 (42.21)</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62 (42.47)</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36 (39.56)</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48 (40.34)</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40 (24.55)</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mpd="sng">
                      <a:noFill/>
                      <a:prstDash val="solid"/>
                    </a:lnB>
                    <a:solidFill>
                      <a:srgbClr val="F7F7F7"/>
                    </a:solidFill>
                  </a:tcPr>
                </a:tc>
                <a:extLst>
                  <a:ext uri="{0D108BD9-81ED-4DB2-BD59-A6C34878D82A}">
                    <a16:rowId xmlns:a16="http://schemas.microsoft.com/office/drawing/2014/main" val="3926493167"/>
                  </a:ext>
                </a:extLst>
              </a:tr>
              <a:tr h="320184">
                <a:tc>
                  <a:txBody>
                    <a:bodyPr/>
                    <a:lstStyle/>
                    <a:p>
                      <a:pPr marL="0" marR="0" algn="ctr" fontAlgn="t">
                        <a:spcBef>
                          <a:spcPts val="0"/>
                        </a:spcBef>
                        <a:spcAft>
                          <a:spcPts val="0"/>
                        </a:spcAft>
                      </a:pPr>
                      <a:r>
                        <a:rPr lang="en-US" sz="900" b="1"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endParaRPr lang="en-US" sz="900" b="1"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High</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40 (25.97)</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38 (26.02)</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26 (28.57)</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35 (29.41)</a:t>
                      </a:r>
                      <a:endParaRPr lang="en-US" sz="1200" b="0" i="0" u="none" strike="noStrike" cap="none" spc="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chemeClr val="bg1">
                        <a:lumMod val="85000"/>
                      </a:schemeClr>
                    </a:solidFill>
                  </a:tcPr>
                </a:tc>
                <a:tc>
                  <a:txBody>
                    <a:bodyPr/>
                    <a:lstStyle/>
                    <a:p>
                      <a:pPr marL="0" marR="0" algn="ctr" fontAlgn="t">
                        <a:spcBef>
                          <a:spcPts val="0"/>
                        </a:spcBef>
                        <a:spcAft>
                          <a:spcPts val="0"/>
                        </a:spcAft>
                      </a:pPr>
                      <a:r>
                        <a:rPr lang="en-US" sz="1200" b="0" i="0" u="none" strike="noStrike" cap="none" spc="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26 (27.66)</a:t>
                      </a:r>
                      <a:endParaRPr lang="en-US" sz="1200" b="0" i="0" u="none" strike="noStrike" cap="none" spc="0" dirty="0">
                        <a:solidFill>
                          <a:schemeClr val="tx1"/>
                        </a:solidFill>
                        <a:effectLst/>
                        <a:latin typeface="Arial" panose="020B0604020202020204" pitchFamily="34" charset="0"/>
                      </a:endParaRPr>
                    </a:p>
                  </a:txBody>
                  <a:tcPr marL="40891" marR="51143" marT="11683" marB="66562">
                    <a:lnL w="12700" cmpd="sng">
                      <a:noFill/>
                      <a:prstDash val="solid"/>
                    </a:lnL>
                    <a:lnR w="12700" cmpd="sng">
                      <a:noFill/>
                      <a:prstDash val="solid"/>
                    </a:lnR>
                    <a:lnT w="12700" cmpd="sng">
                      <a:noFill/>
                      <a:prstDash val="solid"/>
                    </a:lnT>
                    <a:lnB w="12700" cap="flat" cmpd="sng" algn="ctr">
                      <a:solidFill>
                        <a:schemeClr val="tx1">
                          <a:lumMod val="50000"/>
                          <a:lumOff val="50000"/>
                        </a:schemeClr>
                      </a:solidFill>
                      <a:prstDash val="solid"/>
                    </a:lnB>
                    <a:solidFill>
                      <a:schemeClr val="bg1">
                        <a:lumMod val="85000"/>
                      </a:schemeClr>
                    </a:solidFill>
                  </a:tcPr>
                </a:tc>
                <a:extLst>
                  <a:ext uri="{0D108BD9-81ED-4DB2-BD59-A6C34878D82A}">
                    <a16:rowId xmlns:a16="http://schemas.microsoft.com/office/drawing/2014/main" val="2215825778"/>
                  </a:ext>
                </a:extLst>
              </a:tr>
            </a:tbl>
          </a:graphicData>
        </a:graphic>
      </p:graphicFrame>
    </p:spTree>
    <p:extLst>
      <p:ext uri="{BB962C8B-B14F-4D97-AF65-F5344CB8AC3E}">
        <p14:creationId xmlns:p14="http://schemas.microsoft.com/office/powerpoint/2010/main" val="2299934403"/>
      </p:ext>
    </p:extLst>
  </p:cSld>
  <p:clrMapOvr>
    <a:masterClrMapping/>
  </p:clrMapOvr>
  <mc:AlternateContent xmlns:mc="http://schemas.openxmlformats.org/markup-compatibility/2006" xmlns:p14="http://schemas.microsoft.com/office/powerpoint/2010/main">
    <mc:Choice Requires="p14">
      <p:transition spd="slow" p14:dur="2000" advTm="154747"/>
    </mc:Choice>
    <mc:Fallback xmlns="">
      <p:transition spd="slow" advTm="154747"/>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26EB5-5357-4243-8A75-861776DFB9E8}"/>
              </a:ext>
            </a:extLst>
          </p:cNvPr>
          <p:cNvSpPr>
            <a:spLocks noGrp="1"/>
          </p:cNvSpPr>
          <p:nvPr>
            <p:ph type="title"/>
          </p:nvPr>
        </p:nvSpPr>
        <p:spPr/>
        <p:txBody>
          <a:bodyPr/>
          <a:lstStyle/>
          <a:p>
            <a:r>
              <a:rPr lang="en-US" dirty="0"/>
              <a:t>Summary Visualizations </a:t>
            </a:r>
          </a:p>
        </p:txBody>
      </p:sp>
      <p:pic>
        <p:nvPicPr>
          <p:cNvPr id="4" name="Content Placeholder 3" descr="Chart&#10;&#10;Description automatically generated">
            <a:extLst>
              <a:ext uri="{FF2B5EF4-FFF2-40B4-BE49-F238E27FC236}">
                <a16:creationId xmlns:a16="http://schemas.microsoft.com/office/drawing/2014/main" id="{C8608C4D-974F-483B-B946-FD59C2965A6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6232661" y="2011755"/>
            <a:ext cx="5686865" cy="3585483"/>
          </a:xfrm>
          <a:prstGeom prst="rect">
            <a:avLst/>
          </a:prstGeom>
          <a:noFill/>
          <a:ln>
            <a:noFill/>
          </a:ln>
        </p:spPr>
      </p:pic>
      <p:sp>
        <p:nvSpPr>
          <p:cNvPr id="45" name="Rectangle 10">
            <a:extLst>
              <a:ext uri="{FF2B5EF4-FFF2-40B4-BE49-F238E27FC236}">
                <a16:creationId xmlns:a16="http://schemas.microsoft.com/office/drawing/2014/main" id="{12753F3F-C7C6-4489-98F1-A52C47B6F4E6}"/>
              </a:ext>
            </a:extLst>
          </p:cNvPr>
          <p:cNvSpPr>
            <a:spLocks noChangeArrowheads="1"/>
          </p:cNvSpPr>
          <p:nvPr/>
        </p:nvSpPr>
        <p:spPr bwMode="auto">
          <a:xfrm>
            <a:off x="4113213" y="31750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US" altLang="en-US" sz="1800" b="0" i="0" u="none" strike="noStrike" cap="none" normalizeH="0" baseline="0">
                <a:ln>
                  <a:noFill/>
                </a:ln>
                <a:solidFill>
                  <a:schemeClr val="tx1"/>
                </a:solidFill>
                <a:effectLst/>
                <a:latin typeface="Arial" panose="020B0604020202020204" pitchFamily="34" charset="0"/>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pic>
        <p:nvPicPr>
          <p:cNvPr id="63" name="Picture 62" descr="Chart, box and whisker chart&#10;&#10;Description automatically generated">
            <a:extLst>
              <a:ext uri="{FF2B5EF4-FFF2-40B4-BE49-F238E27FC236}">
                <a16:creationId xmlns:a16="http://schemas.microsoft.com/office/drawing/2014/main" id="{36B21FAF-0A62-452D-9EE3-1CAF00A70A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0809" y="1979179"/>
            <a:ext cx="5738532" cy="3618059"/>
          </a:xfrm>
          <a:prstGeom prst="rect">
            <a:avLst/>
          </a:prstGeom>
        </p:spPr>
      </p:pic>
    </p:spTree>
    <p:extLst>
      <p:ext uri="{BB962C8B-B14F-4D97-AF65-F5344CB8AC3E}">
        <p14:creationId xmlns:p14="http://schemas.microsoft.com/office/powerpoint/2010/main" val="4098173024"/>
      </p:ext>
    </p:extLst>
  </p:cSld>
  <p:clrMapOvr>
    <a:masterClrMapping/>
  </p:clrMapOvr>
  <mc:AlternateContent xmlns:mc="http://schemas.openxmlformats.org/markup-compatibility/2006" xmlns:p14="http://schemas.microsoft.com/office/powerpoint/2010/main">
    <mc:Choice Requires="p14">
      <p:transition spd="slow" p14:dur="2000" advTm="66262"/>
    </mc:Choice>
    <mc:Fallback xmlns="">
      <p:transition spd="slow" advTm="66262"/>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A5538E-C18B-4DA0-A312-C8E424B04C60}"/>
              </a:ext>
            </a:extLst>
          </p:cNvPr>
          <p:cNvSpPr>
            <a:spLocks noGrp="1"/>
          </p:cNvSpPr>
          <p:nvPr>
            <p:ph type="title"/>
          </p:nvPr>
        </p:nvSpPr>
        <p:spPr/>
        <p:txBody>
          <a:bodyPr/>
          <a:lstStyle/>
          <a:p>
            <a:r>
              <a:rPr lang="en-US" dirty="0"/>
              <a:t>Final Model</a:t>
            </a:r>
          </a:p>
        </p:txBody>
      </p:sp>
      <mc:AlternateContent xmlns:mc="http://schemas.openxmlformats.org/markup-compatibility/2006" xmlns:a14="http://schemas.microsoft.com/office/drawing/2010/main">
        <mc:Choice Requires="a14">
          <p:graphicFrame>
            <p:nvGraphicFramePr>
              <p:cNvPr id="10" name="Content Placeholder 9">
                <a:extLst>
                  <a:ext uri="{FF2B5EF4-FFF2-40B4-BE49-F238E27FC236}">
                    <a16:creationId xmlns:a16="http://schemas.microsoft.com/office/drawing/2014/main" id="{C5651CA5-407C-45FF-884B-E23D76DEC61A}"/>
                  </a:ext>
                </a:extLst>
              </p:cNvPr>
              <p:cNvGraphicFramePr>
                <a:graphicFrameLocks noGrp="1"/>
              </p:cNvGraphicFramePr>
              <p:nvPr>
                <p:ph idx="1"/>
                <p:extLst>
                  <p:ext uri="{D42A27DB-BD31-4B8C-83A1-F6EECF244321}">
                    <p14:modId xmlns:p14="http://schemas.microsoft.com/office/powerpoint/2010/main" val="1399004690"/>
                  </p:ext>
                </p:extLst>
              </p:nvPr>
            </p:nvGraphicFramePr>
            <p:xfrm>
              <a:off x="651164" y="1999672"/>
              <a:ext cx="11014364" cy="3745346"/>
            </p:xfrm>
            <a:graphic>
              <a:graphicData uri="http://schemas.openxmlformats.org/drawingml/2006/table">
                <a:tbl>
                  <a:tblPr firstRow="1" firstCol="1" bandRow="1">
                    <a:tableStyleId>{5940675A-B579-460E-94D1-54222C63F5DA}</a:tableStyleId>
                  </a:tblPr>
                  <a:tblGrid>
                    <a:gridCol w="11014364">
                      <a:extLst>
                        <a:ext uri="{9D8B030D-6E8A-4147-A177-3AD203B41FA5}">
                          <a16:colId xmlns:a16="http://schemas.microsoft.com/office/drawing/2014/main" val="638228453"/>
                        </a:ext>
                      </a:extLst>
                    </a:gridCol>
                  </a:tblGrid>
                  <a:tr h="359386">
                    <a:tc>
                      <a:txBody>
                        <a:bodyPr/>
                        <a:lstStyle/>
                        <a:p>
                          <a:pPr marL="0" marR="0" algn="ctr">
                            <a:spcBef>
                              <a:spcPts val="0"/>
                            </a:spcBef>
                            <a:spcAft>
                              <a:spcPts val="0"/>
                            </a:spcAft>
                          </a:pPr>
                          <a:r>
                            <a:rPr lang="en-US" sz="1800" dirty="0">
                              <a:effectLst/>
                            </a:rPr>
                            <a:t>Population 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75460115"/>
                      </a:ext>
                    </a:extLst>
                  </a:tr>
                  <a:tr h="15132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𝑉𝑆𝐴</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𝐸</m:t>
                                    </m:r>
                                  </m:e>
                                  <m:sub>
                                    <m:r>
                                      <a:rPr lang="en-US" sz="1800">
                                        <a:effectLst/>
                                        <a:latin typeface="Cambria Math" panose="02040503050406030204" pitchFamily="18" charset="0"/>
                                      </a:rPr>
                                      <m:t>𝑖𝑗</m:t>
                                    </m:r>
                                  </m:sub>
                                </m:sSub>
                                <m:r>
                                  <a:rPr lang="en-US" sz="1800">
                                    <a:effectLst/>
                                    <a:latin typeface="Cambria Math" panose="02040503050406030204" pitchFamily="18" charset="0"/>
                                  </a:rPr>
                                  <m:t>=5.521+1.368∗</m:t>
                                </m:r>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r>
                                  <a:rPr lang="en-US" sz="1800">
                                    <a:effectLst/>
                                    <a:latin typeface="Cambria Math" panose="02040503050406030204" pitchFamily="18" charset="0"/>
                                  </a:rPr>
                                  <m:t>+0.243∗(</m:t>
                                </m:r>
                                <m:r>
                                  <a:rPr lang="en-US" sz="1800">
                                    <a:effectLst/>
                                    <a:latin typeface="Cambria Math" panose="02040503050406030204" pitchFamily="18" charset="0"/>
                                  </a:rPr>
                                  <m:t>𝐿𝑎𝑛𝑔𝑢𝑎𝑔𝑒</m:t>
                                </m:r>
                                <m:r>
                                  <a:rPr lang="en-US" sz="1800">
                                    <a:effectLst/>
                                    <a:latin typeface="Cambria Math" panose="02040503050406030204" pitchFamily="18" charset="0"/>
                                  </a:rPr>
                                  <m:t>=</m:t>
                                </m:r>
                                <m:r>
                                  <a:rPr lang="en-US" sz="1800">
                                    <a:effectLst/>
                                    <a:latin typeface="Cambria Math" panose="02040503050406030204" pitchFamily="18" charset="0"/>
                                  </a:rPr>
                                  <m:t>𝑀𝑒𝑑𝑖𝑢</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𝑚</m:t>
                                    </m:r>
                                  </m:e>
                                  <m:sub>
                                    <m:r>
                                      <a:rPr lang="en-US" sz="1800">
                                        <a:effectLst/>
                                        <a:latin typeface="Cambria Math" panose="02040503050406030204" pitchFamily="18" charset="0"/>
                                      </a:rPr>
                                      <m:t>𝑖𝑗</m:t>
                                    </m:r>
                                  </m:sub>
                                </m:sSub>
                                <m:r>
                                  <a:rPr lang="en-US" sz="1800">
                                    <a:effectLst/>
                                    <a:latin typeface="Cambria Math" panose="02040503050406030204" pitchFamily="18" charset="0"/>
                                  </a:rPr>
                                  <m:t>)−3.216(</m:t>
                                </m:r>
                                <m:r>
                                  <a:rPr lang="en-US" sz="1800">
                                    <a:effectLst/>
                                    <a:latin typeface="Cambria Math" panose="02040503050406030204" pitchFamily="18" charset="0"/>
                                  </a:rPr>
                                  <m:t>𝐿𝑎𝑛𝑔𝑢𝑎𝑔𝑒</m:t>
                                </m:r>
                                <m:r>
                                  <a:rPr lang="en-US" sz="1800">
                                    <a:effectLst/>
                                    <a:latin typeface="Cambria Math" panose="02040503050406030204" pitchFamily="18" charset="0"/>
                                  </a:rPr>
                                  <m:t>=</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𝐻𝑖𝑔h</m:t>
                                    </m:r>
                                  </m:e>
                                  <m:sub>
                                    <m:r>
                                      <a:rPr lang="en-US" sz="1800">
                                        <a:effectLst/>
                                        <a:latin typeface="Cambria Math" panose="02040503050406030204" pitchFamily="18" charset="0"/>
                                      </a:rPr>
                                      <m:t>𝑖𝑗</m:t>
                                    </m:r>
                                  </m:sub>
                                </m:sSub>
                                <m:r>
                                  <a:rPr lang="en-US" sz="1800">
                                    <a:effectLst/>
                                    <a:latin typeface="Cambria Math" panose="02040503050406030204" pitchFamily="18" charset="0"/>
                                  </a:rPr>
                                  <m:t>)−</m:t>
                                </m:r>
                              </m:oMath>
                            </m:oMathPara>
                          </a14:m>
                          <a:endParaRPr lang="en-US" sz="1800" dirty="0">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2.251∗</m:t>
                                </m:r>
                                <m:d>
                                  <m:dPr>
                                    <m:ctrlPr>
                                      <a:rPr lang="en-US" sz="1800" i="1">
                                        <a:effectLst/>
                                        <a:latin typeface="Cambria Math" panose="02040503050406030204" pitchFamily="18" charset="0"/>
                                      </a:rPr>
                                    </m:ctrlPr>
                                  </m:dPr>
                                  <m:e>
                                    <m:r>
                                      <a:rPr lang="en-US" sz="1800">
                                        <a:effectLst/>
                                        <a:latin typeface="Cambria Math" panose="02040503050406030204" pitchFamily="18" charset="0"/>
                                      </a:rPr>
                                      <m:t>𝐷𝑖𝑎𝑔𝑛𝑜𝑠𝑖𝑠</m:t>
                                    </m:r>
                                    <m:r>
                                      <a:rPr lang="en-US" sz="1800">
                                        <a:effectLst/>
                                        <a:latin typeface="Cambria Math" panose="02040503050406030204" pitchFamily="18" charset="0"/>
                                      </a:rPr>
                                      <m:t>=</m:t>
                                    </m:r>
                                    <m:r>
                                      <a:rPr lang="en-US" sz="1800">
                                        <a:effectLst/>
                                        <a:latin typeface="Cambria Math" panose="02040503050406030204" pitchFamily="18" charset="0"/>
                                      </a:rPr>
                                      <m:t>𝑃𝐷</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𝐷</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−4.645∗</m:t>
                                </m:r>
                                <m:d>
                                  <m:dPr>
                                    <m:ctrlPr>
                                      <a:rPr lang="en-US" sz="1800" i="1">
                                        <a:effectLst/>
                                        <a:latin typeface="Cambria Math" panose="02040503050406030204" pitchFamily="18" charset="0"/>
                                      </a:rPr>
                                    </m:ctrlPr>
                                  </m:dPr>
                                  <m:e>
                                    <m:r>
                                      <a:rPr lang="en-US" sz="1800">
                                        <a:effectLst/>
                                        <a:latin typeface="Cambria Math" panose="02040503050406030204" pitchFamily="18" charset="0"/>
                                      </a:rPr>
                                      <m:t>𝑅𝑎𝑐𝑒</m:t>
                                    </m:r>
                                    <m:r>
                                      <a:rPr lang="en-US" sz="1800">
                                        <a:effectLst/>
                                        <a:latin typeface="Cambria Math" panose="02040503050406030204" pitchFamily="18" charset="0"/>
                                      </a:rPr>
                                      <m:t>=</m:t>
                                    </m:r>
                                    <m:r>
                                      <a:rPr lang="en-US" sz="1800">
                                        <a:effectLst/>
                                        <a:latin typeface="Cambria Math" panose="02040503050406030204" pitchFamily="18" charset="0"/>
                                      </a:rPr>
                                      <m:t>𝑊h𝑖𝑡</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oMath>
                            </m:oMathPara>
                          </a14:m>
                          <a:endParaRPr lang="en-US" sz="1800" dirty="0">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0.325∗</m:t>
                                </m:r>
                                <m:d>
                                  <m:dPr>
                                    <m:ctrlPr>
                                      <a:rPr lang="en-US" sz="1800" i="1">
                                        <a:effectLst/>
                                        <a:latin typeface="Cambria Math" panose="02040503050406030204" pitchFamily="18" charset="0"/>
                                      </a:rPr>
                                    </m:ctrlPr>
                                  </m:dPr>
                                  <m:e>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d>
                                  <m:dPr>
                                    <m:ctrlPr>
                                      <a:rPr lang="en-US" sz="1800" i="1">
                                        <a:effectLst/>
                                        <a:latin typeface="Cambria Math" panose="02040503050406030204" pitchFamily="18" charset="0"/>
                                      </a:rPr>
                                    </m:ctrlPr>
                                  </m:dPr>
                                  <m:e>
                                    <m:r>
                                      <a:rPr lang="en-US" sz="1800">
                                        <a:effectLst/>
                                        <a:latin typeface="Cambria Math" panose="02040503050406030204" pitchFamily="18" charset="0"/>
                                      </a:rPr>
                                      <m:t>𝐿𝑎𝑛𝑔𝑢𝑎𝑔𝑒</m:t>
                                    </m:r>
                                    <m:r>
                                      <a:rPr lang="en-US" sz="1800">
                                        <a:effectLst/>
                                        <a:latin typeface="Cambria Math" panose="02040503050406030204" pitchFamily="18" charset="0"/>
                                      </a:rPr>
                                      <m:t>=</m:t>
                                    </m:r>
                                    <m:r>
                                      <a:rPr lang="en-US" sz="1800">
                                        <a:effectLst/>
                                        <a:latin typeface="Cambria Math" panose="02040503050406030204" pitchFamily="18" charset="0"/>
                                      </a:rPr>
                                      <m:t>𝑀𝑒𝑑𝑖𝑢</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𝑚</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+3.824∗</m:t>
                                </m:r>
                                <m:d>
                                  <m:dPr>
                                    <m:ctrlPr>
                                      <a:rPr lang="en-US" sz="1800" i="1">
                                        <a:effectLst/>
                                        <a:latin typeface="Cambria Math" panose="02040503050406030204" pitchFamily="18" charset="0"/>
                                      </a:rPr>
                                    </m:ctrlPr>
                                  </m:dPr>
                                  <m:e>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d>
                                  <m:dPr>
                                    <m:ctrlPr>
                                      <a:rPr lang="en-US" sz="1800" i="1">
                                        <a:effectLst/>
                                        <a:latin typeface="Cambria Math" panose="02040503050406030204" pitchFamily="18" charset="0"/>
                                      </a:rPr>
                                    </m:ctrlPr>
                                  </m:dPr>
                                  <m:e>
                                    <m:r>
                                      <a:rPr lang="en-US" sz="1800">
                                        <a:effectLst/>
                                        <a:latin typeface="Cambria Math" panose="02040503050406030204" pitchFamily="18" charset="0"/>
                                      </a:rPr>
                                      <m:t>𝐿𝑎𝑛𝑔𝑢𝑎𝑔𝑒</m:t>
                                    </m:r>
                                    <m:r>
                                      <a:rPr lang="en-US" sz="1800">
                                        <a:effectLst/>
                                        <a:latin typeface="Cambria Math" panose="02040503050406030204" pitchFamily="18" charset="0"/>
                                      </a:rPr>
                                      <m:t>=</m:t>
                                    </m:r>
                                    <m:r>
                                      <a:rPr lang="en-US" sz="1800">
                                        <a:effectLst/>
                                        <a:latin typeface="Cambria Math" panose="02040503050406030204" pitchFamily="18" charset="0"/>
                                      </a:rPr>
                                      <m:t>𝐻𝑖𝑔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h</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oMath>
                            </m:oMathPara>
                          </a14:m>
                          <a:endParaRPr lang="en-US" sz="1800" dirty="0">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1.7∗(</m:t>
                                </m:r>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r>
                                  <a:rPr lang="en-US" sz="1800">
                                    <a:effectLst/>
                                    <a:latin typeface="Cambria Math" panose="02040503050406030204" pitchFamily="18" charset="0"/>
                                  </a:rPr>
                                  <m:t>)∗(</m:t>
                                </m:r>
                                <m:r>
                                  <a:rPr lang="en-US" sz="1800">
                                    <a:effectLst/>
                                    <a:latin typeface="Cambria Math" panose="02040503050406030204" pitchFamily="18" charset="0"/>
                                  </a:rPr>
                                  <m:t>𝐷𝑖𝑎𝑔𝑛𝑜𝑠𝑖𝑠</m:t>
                                </m:r>
                                <m:r>
                                  <a:rPr lang="en-US" sz="1800">
                                    <a:effectLst/>
                                    <a:latin typeface="Cambria Math" panose="02040503050406030204" pitchFamily="18" charset="0"/>
                                  </a:rPr>
                                  <m:t>=</m:t>
                                </m:r>
                                <m:r>
                                  <a:rPr lang="en-US" sz="1800">
                                    <a:effectLst/>
                                    <a:latin typeface="Cambria Math" panose="02040503050406030204" pitchFamily="18" charset="0"/>
                                  </a:rPr>
                                  <m:t>𝑃𝐷</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𝐷</m:t>
                                    </m:r>
                                  </m:e>
                                  <m:sub>
                                    <m:r>
                                      <a:rPr lang="en-US" sz="1800">
                                        <a:effectLst/>
                                        <a:latin typeface="Cambria Math" panose="02040503050406030204" pitchFamily="18" charset="0"/>
                                      </a:rPr>
                                      <m:t>𝑖𝑗</m:t>
                                    </m:r>
                                  </m:sub>
                                </m:sSub>
                                <m:r>
                                  <a:rPr lang="en-US" sz="1800">
                                    <a:effectLst/>
                                    <a:latin typeface="Cambria Math" panose="02040503050406030204" pitchFamily="18" charset="0"/>
                                  </a:rPr>
                                  <m:t>)+1.809∗</m:t>
                                </m:r>
                                <m:d>
                                  <m:dPr>
                                    <m:ctrlPr>
                                      <a:rPr lang="en-US" sz="1800" i="1">
                                        <a:effectLst/>
                                        <a:latin typeface="Cambria Math" panose="02040503050406030204" pitchFamily="18" charset="0"/>
                                      </a:rPr>
                                    </m:ctrlPr>
                                  </m:dPr>
                                  <m:e>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d>
                                  <m:dPr>
                                    <m:ctrlPr>
                                      <a:rPr lang="en-US" sz="1800" i="1">
                                        <a:effectLst/>
                                        <a:latin typeface="Cambria Math" panose="02040503050406030204" pitchFamily="18" charset="0"/>
                                      </a:rPr>
                                    </m:ctrlPr>
                                  </m:dPr>
                                  <m:e>
                                    <m:r>
                                      <a:rPr lang="en-US" sz="1800">
                                        <a:effectLst/>
                                        <a:latin typeface="Cambria Math" panose="02040503050406030204" pitchFamily="18" charset="0"/>
                                      </a:rPr>
                                      <m:t>𝑅𝑎𝑐𝑒</m:t>
                                    </m:r>
                                    <m:r>
                                      <a:rPr lang="en-US" sz="1800">
                                        <a:effectLst/>
                                        <a:latin typeface="Cambria Math" panose="02040503050406030204" pitchFamily="18" charset="0"/>
                                      </a:rPr>
                                      <m:t>=</m:t>
                                    </m:r>
                                    <m:r>
                                      <a:rPr lang="en-US" sz="1800">
                                        <a:effectLst/>
                                        <a:latin typeface="Cambria Math" panose="02040503050406030204" pitchFamily="18" charset="0"/>
                                      </a:rPr>
                                      <m:t>𝑊h𝑖𝑡</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089187195"/>
                      </a:ext>
                    </a:extLst>
                  </a:tr>
                  <a:tr h="359386">
                    <a:tc>
                      <a:txBody>
                        <a:bodyPr/>
                        <a:lstStyle/>
                        <a:p>
                          <a:pPr marL="0" marR="0" algn="ctr">
                            <a:spcBef>
                              <a:spcPts val="0"/>
                            </a:spcBef>
                            <a:spcAft>
                              <a:spcPts val="0"/>
                            </a:spcAft>
                          </a:pPr>
                          <a:r>
                            <a:rPr lang="en-US" sz="1800" dirty="0">
                              <a:effectLst/>
                            </a:rPr>
                            <a:t>Subject-Specific 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98268"/>
                      </a:ext>
                    </a:extLst>
                  </a:tr>
                  <a:tr h="1513287">
                    <a:tc>
                      <a:txBody>
                        <a:bodyPr/>
                        <a:lstStyle/>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𝑉𝑆𝐴</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𝐸</m:t>
                                    </m:r>
                                  </m:e>
                                  <m:sub>
                                    <m:r>
                                      <a:rPr lang="en-US" sz="1800">
                                        <a:effectLst/>
                                        <a:latin typeface="Cambria Math" panose="02040503050406030204" pitchFamily="18" charset="0"/>
                                      </a:rPr>
                                      <m:t>𝑖𝑗</m:t>
                                    </m:r>
                                  </m:sub>
                                </m:sSub>
                                <m:r>
                                  <a:rPr lang="en-US" sz="1800">
                                    <a:effectLst/>
                                    <a:latin typeface="Cambria Math" panose="02040503050406030204" pitchFamily="18" charset="0"/>
                                  </a:rPr>
                                  <m:t>=13.882+1.368∗</m:t>
                                </m:r>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r>
                                  <a:rPr lang="en-US" sz="1800">
                                    <a:effectLst/>
                                    <a:latin typeface="Cambria Math" panose="02040503050406030204" pitchFamily="18" charset="0"/>
                                  </a:rPr>
                                  <m:t>+0.243∗(</m:t>
                                </m:r>
                                <m:r>
                                  <a:rPr lang="en-US" sz="1800">
                                    <a:effectLst/>
                                    <a:latin typeface="Cambria Math" panose="02040503050406030204" pitchFamily="18" charset="0"/>
                                  </a:rPr>
                                  <m:t>𝐿𝑎𝑛𝑔𝑢𝑎𝑔𝑒</m:t>
                                </m:r>
                                <m:r>
                                  <a:rPr lang="en-US" sz="1800">
                                    <a:effectLst/>
                                    <a:latin typeface="Cambria Math" panose="02040503050406030204" pitchFamily="18" charset="0"/>
                                  </a:rPr>
                                  <m:t>=</m:t>
                                </m:r>
                                <m:r>
                                  <a:rPr lang="en-US" sz="1800">
                                    <a:effectLst/>
                                    <a:latin typeface="Cambria Math" panose="02040503050406030204" pitchFamily="18" charset="0"/>
                                  </a:rPr>
                                  <m:t>𝑀𝑒𝑑𝑖𝑢</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𝑚</m:t>
                                    </m:r>
                                  </m:e>
                                  <m:sub>
                                    <m:r>
                                      <a:rPr lang="en-US" sz="1800">
                                        <a:effectLst/>
                                        <a:latin typeface="Cambria Math" panose="02040503050406030204" pitchFamily="18" charset="0"/>
                                      </a:rPr>
                                      <m:t>𝑖𝑗</m:t>
                                    </m:r>
                                  </m:sub>
                                </m:sSub>
                                <m:r>
                                  <a:rPr lang="en-US" sz="1800">
                                    <a:effectLst/>
                                    <a:latin typeface="Cambria Math" panose="02040503050406030204" pitchFamily="18" charset="0"/>
                                  </a:rPr>
                                  <m:t>)−3.216(</m:t>
                                </m:r>
                                <m:r>
                                  <a:rPr lang="en-US" sz="1800">
                                    <a:effectLst/>
                                    <a:latin typeface="Cambria Math" panose="02040503050406030204" pitchFamily="18" charset="0"/>
                                  </a:rPr>
                                  <m:t>𝐿𝑎𝑛𝑔𝑢𝑎𝑔𝑒</m:t>
                                </m:r>
                                <m:r>
                                  <a:rPr lang="en-US" sz="1800">
                                    <a:effectLst/>
                                    <a:latin typeface="Cambria Math" panose="02040503050406030204" pitchFamily="18" charset="0"/>
                                  </a:rPr>
                                  <m:t>=</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𝐻𝑖𝑔h</m:t>
                                    </m:r>
                                  </m:e>
                                  <m:sub>
                                    <m:r>
                                      <a:rPr lang="en-US" sz="1800">
                                        <a:effectLst/>
                                        <a:latin typeface="Cambria Math" panose="02040503050406030204" pitchFamily="18" charset="0"/>
                                      </a:rPr>
                                      <m:t>𝑖𝑗</m:t>
                                    </m:r>
                                  </m:sub>
                                </m:sSub>
                                <m:r>
                                  <a:rPr lang="en-US" sz="1800">
                                    <a:effectLst/>
                                    <a:latin typeface="Cambria Math" panose="02040503050406030204" pitchFamily="18" charset="0"/>
                                  </a:rPr>
                                  <m:t>)−</m:t>
                                </m:r>
                              </m:oMath>
                            </m:oMathPara>
                          </a14:m>
                          <a:endParaRPr lang="en-US" sz="1800" dirty="0">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2.251∗</m:t>
                                </m:r>
                                <m:d>
                                  <m:dPr>
                                    <m:ctrlPr>
                                      <a:rPr lang="en-US" sz="1800" i="1">
                                        <a:effectLst/>
                                        <a:latin typeface="Cambria Math" panose="02040503050406030204" pitchFamily="18" charset="0"/>
                                      </a:rPr>
                                    </m:ctrlPr>
                                  </m:dPr>
                                  <m:e>
                                    <m:r>
                                      <a:rPr lang="en-US" sz="1800">
                                        <a:effectLst/>
                                        <a:latin typeface="Cambria Math" panose="02040503050406030204" pitchFamily="18" charset="0"/>
                                      </a:rPr>
                                      <m:t>𝐷𝑖𝑎𝑔𝑛𝑜𝑠𝑖𝑠</m:t>
                                    </m:r>
                                    <m:r>
                                      <a:rPr lang="en-US" sz="1800">
                                        <a:effectLst/>
                                        <a:latin typeface="Cambria Math" panose="02040503050406030204" pitchFamily="18" charset="0"/>
                                      </a:rPr>
                                      <m:t>=</m:t>
                                    </m:r>
                                    <m:r>
                                      <a:rPr lang="en-US" sz="1800">
                                        <a:effectLst/>
                                        <a:latin typeface="Cambria Math" panose="02040503050406030204" pitchFamily="18" charset="0"/>
                                      </a:rPr>
                                      <m:t>𝑃𝐷</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𝐷</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−4.645∗</m:t>
                                </m:r>
                                <m:d>
                                  <m:dPr>
                                    <m:ctrlPr>
                                      <a:rPr lang="en-US" sz="1800" i="1">
                                        <a:effectLst/>
                                        <a:latin typeface="Cambria Math" panose="02040503050406030204" pitchFamily="18" charset="0"/>
                                      </a:rPr>
                                    </m:ctrlPr>
                                  </m:dPr>
                                  <m:e>
                                    <m:r>
                                      <a:rPr lang="en-US" sz="1800">
                                        <a:effectLst/>
                                        <a:latin typeface="Cambria Math" panose="02040503050406030204" pitchFamily="18" charset="0"/>
                                      </a:rPr>
                                      <m:t>𝑅𝑎𝑐𝑒</m:t>
                                    </m:r>
                                    <m:r>
                                      <a:rPr lang="en-US" sz="1800">
                                        <a:effectLst/>
                                        <a:latin typeface="Cambria Math" panose="02040503050406030204" pitchFamily="18" charset="0"/>
                                      </a:rPr>
                                      <m:t>=</m:t>
                                    </m:r>
                                    <m:r>
                                      <a:rPr lang="en-US" sz="1800">
                                        <a:effectLst/>
                                        <a:latin typeface="Cambria Math" panose="02040503050406030204" pitchFamily="18" charset="0"/>
                                      </a:rPr>
                                      <m:t>𝑊h𝑖𝑡</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oMath>
                            </m:oMathPara>
                          </a14:m>
                          <a:endParaRPr lang="en-US" sz="1800" dirty="0">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0.325∗</m:t>
                                </m:r>
                                <m:d>
                                  <m:dPr>
                                    <m:ctrlPr>
                                      <a:rPr lang="en-US" sz="1800" i="1">
                                        <a:effectLst/>
                                        <a:latin typeface="Cambria Math" panose="02040503050406030204" pitchFamily="18" charset="0"/>
                                      </a:rPr>
                                    </m:ctrlPr>
                                  </m:dPr>
                                  <m:e>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d>
                                  <m:dPr>
                                    <m:ctrlPr>
                                      <a:rPr lang="en-US" sz="1800" i="1">
                                        <a:effectLst/>
                                        <a:latin typeface="Cambria Math" panose="02040503050406030204" pitchFamily="18" charset="0"/>
                                      </a:rPr>
                                    </m:ctrlPr>
                                  </m:dPr>
                                  <m:e>
                                    <m:r>
                                      <a:rPr lang="en-US" sz="1800">
                                        <a:effectLst/>
                                        <a:latin typeface="Cambria Math" panose="02040503050406030204" pitchFamily="18" charset="0"/>
                                      </a:rPr>
                                      <m:t>𝐿𝑎𝑛𝑔𝑢𝑎𝑔𝑒</m:t>
                                    </m:r>
                                    <m:r>
                                      <a:rPr lang="en-US" sz="1800">
                                        <a:effectLst/>
                                        <a:latin typeface="Cambria Math" panose="02040503050406030204" pitchFamily="18" charset="0"/>
                                      </a:rPr>
                                      <m:t>=</m:t>
                                    </m:r>
                                    <m:r>
                                      <a:rPr lang="en-US" sz="1800">
                                        <a:effectLst/>
                                        <a:latin typeface="Cambria Math" panose="02040503050406030204" pitchFamily="18" charset="0"/>
                                      </a:rPr>
                                      <m:t>𝑀𝑒𝑑𝑖𝑢</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𝑚</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+3.824∗</m:t>
                                </m:r>
                                <m:d>
                                  <m:dPr>
                                    <m:ctrlPr>
                                      <a:rPr lang="en-US" sz="1800" i="1">
                                        <a:effectLst/>
                                        <a:latin typeface="Cambria Math" panose="02040503050406030204" pitchFamily="18" charset="0"/>
                                      </a:rPr>
                                    </m:ctrlPr>
                                  </m:dPr>
                                  <m:e>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d>
                                  <m:dPr>
                                    <m:ctrlPr>
                                      <a:rPr lang="en-US" sz="1800" i="1">
                                        <a:effectLst/>
                                        <a:latin typeface="Cambria Math" panose="02040503050406030204" pitchFamily="18" charset="0"/>
                                      </a:rPr>
                                    </m:ctrlPr>
                                  </m:dPr>
                                  <m:e>
                                    <m:r>
                                      <a:rPr lang="en-US" sz="1800">
                                        <a:effectLst/>
                                        <a:latin typeface="Cambria Math" panose="02040503050406030204" pitchFamily="18" charset="0"/>
                                      </a:rPr>
                                      <m:t>𝐿𝑎𝑛𝑔𝑢𝑎𝑔𝑒</m:t>
                                    </m:r>
                                    <m:r>
                                      <a:rPr lang="en-US" sz="1800">
                                        <a:effectLst/>
                                        <a:latin typeface="Cambria Math" panose="02040503050406030204" pitchFamily="18" charset="0"/>
                                      </a:rPr>
                                      <m:t>=</m:t>
                                    </m:r>
                                    <m:r>
                                      <a:rPr lang="en-US" sz="1800">
                                        <a:effectLst/>
                                        <a:latin typeface="Cambria Math" panose="02040503050406030204" pitchFamily="18" charset="0"/>
                                      </a:rPr>
                                      <m:t>𝐻𝑖𝑔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h</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oMath>
                            </m:oMathPara>
                          </a14:m>
                          <a:endParaRPr lang="en-US" sz="1800" dirty="0">
                            <a:effectLst/>
                          </a:endParaRPr>
                        </a:p>
                        <a:p>
                          <a:pPr marL="0" marR="0" algn="ctr">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1.7∗</m:t>
                                </m:r>
                                <m:d>
                                  <m:dPr>
                                    <m:ctrlPr>
                                      <a:rPr lang="en-US" sz="1800" i="1">
                                        <a:effectLst/>
                                        <a:latin typeface="Cambria Math" panose="02040503050406030204" pitchFamily="18" charset="0"/>
                                      </a:rPr>
                                    </m:ctrlPr>
                                  </m:dPr>
                                  <m:e>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d>
                                  <m:dPr>
                                    <m:ctrlPr>
                                      <a:rPr lang="en-US" sz="1800" i="1">
                                        <a:effectLst/>
                                        <a:latin typeface="Cambria Math" panose="02040503050406030204" pitchFamily="18" charset="0"/>
                                      </a:rPr>
                                    </m:ctrlPr>
                                  </m:dPr>
                                  <m:e>
                                    <m:r>
                                      <a:rPr lang="en-US" sz="1800">
                                        <a:effectLst/>
                                        <a:latin typeface="Cambria Math" panose="02040503050406030204" pitchFamily="18" charset="0"/>
                                      </a:rPr>
                                      <m:t>𝐷𝑖𝑎𝑔𝑛𝑜𝑠𝑖𝑠</m:t>
                                    </m:r>
                                    <m:r>
                                      <a:rPr lang="en-US" sz="1800">
                                        <a:effectLst/>
                                        <a:latin typeface="Cambria Math" panose="02040503050406030204" pitchFamily="18" charset="0"/>
                                      </a:rPr>
                                      <m:t>=</m:t>
                                    </m:r>
                                    <m:r>
                                      <a:rPr lang="en-US" sz="1800">
                                        <a:effectLst/>
                                        <a:latin typeface="Cambria Math" panose="02040503050406030204" pitchFamily="18" charset="0"/>
                                      </a:rPr>
                                      <m:t>𝑃𝐷</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𝐷</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+1.809∗</m:t>
                                </m:r>
                                <m:d>
                                  <m:dPr>
                                    <m:ctrlPr>
                                      <a:rPr lang="en-US" sz="1800" i="1">
                                        <a:effectLst/>
                                        <a:latin typeface="Cambria Math" panose="02040503050406030204" pitchFamily="18" charset="0"/>
                                      </a:rPr>
                                    </m:ctrlPr>
                                  </m:dPr>
                                  <m:e>
                                    <m:r>
                                      <a:rPr lang="en-US" sz="1800">
                                        <a:effectLst/>
                                        <a:latin typeface="Cambria Math" panose="02040503050406030204" pitchFamily="18" charset="0"/>
                                      </a:rPr>
                                      <m:t>𝐴𝑔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d>
                                  <m:dPr>
                                    <m:ctrlPr>
                                      <a:rPr lang="en-US" sz="1800" i="1">
                                        <a:effectLst/>
                                        <a:latin typeface="Cambria Math" panose="02040503050406030204" pitchFamily="18" charset="0"/>
                                      </a:rPr>
                                    </m:ctrlPr>
                                  </m:dPr>
                                  <m:e>
                                    <m:r>
                                      <a:rPr lang="en-US" sz="1800">
                                        <a:effectLst/>
                                        <a:latin typeface="Cambria Math" panose="02040503050406030204" pitchFamily="18" charset="0"/>
                                      </a:rPr>
                                      <m:t>𝑅𝑎𝑐𝑒</m:t>
                                    </m:r>
                                    <m:r>
                                      <a:rPr lang="en-US" sz="1800">
                                        <a:effectLst/>
                                        <a:latin typeface="Cambria Math" panose="02040503050406030204" pitchFamily="18" charset="0"/>
                                      </a:rPr>
                                      <m:t>=</m:t>
                                    </m:r>
                                    <m:r>
                                      <a:rPr lang="en-US" sz="1800">
                                        <a:effectLst/>
                                        <a:latin typeface="Cambria Math" panose="02040503050406030204" pitchFamily="18" charset="0"/>
                                      </a:rPr>
                                      <m:t>𝑊h𝑖𝑡</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𝑖𝑗</m:t>
                                        </m:r>
                                      </m:sub>
                                    </m:sSub>
                                  </m:e>
                                </m:d>
                                <m:r>
                                  <a:rPr lang="en-US" sz="1800">
                                    <a:effectLst/>
                                    <a:latin typeface="Cambria Math" panose="02040503050406030204" pitchFamily="18" charset="0"/>
                                  </a:rPr>
                                  <m:t>+</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3.819∗(</m:t>
                                    </m:r>
                                    <m:r>
                                      <a:rPr lang="en-US" sz="1800">
                                        <a:effectLst/>
                                        <a:latin typeface="Cambria Math" panose="02040503050406030204" pitchFamily="18" charset="0"/>
                                      </a:rPr>
                                      <m:t>𝑏</m:t>
                                    </m:r>
                                  </m:e>
                                  <m:sub>
                                    <m:r>
                                      <a:rPr lang="en-US" sz="1800">
                                        <a:effectLst/>
                                        <a:latin typeface="Cambria Math" panose="02040503050406030204" pitchFamily="18" charset="0"/>
                                      </a:rPr>
                                      <m:t>𝑎𝑔</m:t>
                                    </m:r>
                                    <m:sSub>
                                      <m:sSubPr>
                                        <m:ctrlPr>
                                          <a:rPr lang="en-US" sz="1800" i="1">
                                            <a:effectLst/>
                                            <a:latin typeface="Cambria Math" panose="02040503050406030204" pitchFamily="18" charset="0"/>
                                          </a:rPr>
                                        </m:ctrlPr>
                                      </m:sSubPr>
                                      <m:e>
                                        <m:r>
                                          <a:rPr lang="en-US" sz="1800">
                                            <a:effectLst/>
                                            <a:latin typeface="Cambria Math" panose="02040503050406030204" pitchFamily="18" charset="0"/>
                                          </a:rPr>
                                          <m:t>𝑒</m:t>
                                        </m:r>
                                      </m:e>
                                      <m:sub>
                                        <m:r>
                                          <a:rPr lang="en-US" sz="1800">
                                            <a:effectLst/>
                                            <a:latin typeface="Cambria Math" panose="02040503050406030204" pitchFamily="18" charset="0"/>
                                          </a:rPr>
                                          <m:t>𝑖</m:t>
                                        </m:r>
                                      </m:sub>
                                    </m:sSub>
                                  </m:sub>
                                </m:sSub>
                                <m:r>
                                  <a:rPr lang="en-US" sz="1800">
                                    <a:effectLst/>
                                    <a:latin typeface="Cambria Math" panose="02040503050406030204" pitchFamily="18" charset="0"/>
                                  </a:rPr>
                                  <m:t>)</m:t>
                                </m:r>
                              </m:oMath>
                            </m:oMathPara>
                          </a14:m>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272585338"/>
                      </a:ext>
                    </a:extLst>
                  </a:tr>
                </a:tbl>
              </a:graphicData>
            </a:graphic>
          </p:graphicFrame>
        </mc:Choice>
        <mc:Fallback xmlns="">
          <p:graphicFrame>
            <p:nvGraphicFramePr>
              <p:cNvPr id="10" name="Content Placeholder 9">
                <a:extLst>
                  <a:ext uri="{FF2B5EF4-FFF2-40B4-BE49-F238E27FC236}">
                    <a16:creationId xmlns:a16="http://schemas.microsoft.com/office/drawing/2014/main" id="{C5651CA5-407C-45FF-884B-E23D76DEC61A}"/>
                  </a:ext>
                </a:extLst>
              </p:cNvPr>
              <p:cNvGraphicFramePr>
                <a:graphicFrameLocks noGrp="1"/>
              </p:cNvGraphicFramePr>
              <p:nvPr>
                <p:ph idx="1"/>
                <p:extLst>
                  <p:ext uri="{D42A27DB-BD31-4B8C-83A1-F6EECF244321}">
                    <p14:modId xmlns:p14="http://schemas.microsoft.com/office/powerpoint/2010/main" val="1399004690"/>
                  </p:ext>
                </p:extLst>
              </p:nvPr>
            </p:nvGraphicFramePr>
            <p:xfrm>
              <a:off x="651164" y="1999672"/>
              <a:ext cx="11014364" cy="3745346"/>
            </p:xfrm>
            <a:graphic>
              <a:graphicData uri="http://schemas.openxmlformats.org/drawingml/2006/table">
                <a:tbl>
                  <a:tblPr firstRow="1" firstCol="1" bandRow="1">
                    <a:tableStyleId>{5940675A-B579-460E-94D1-54222C63F5DA}</a:tableStyleId>
                  </a:tblPr>
                  <a:tblGrid>
                    <a:gridCol w="11014364">
                      <a:extLst>
                        <a:ext uri="{9D8B030D-6E8A-4147-A177-3AD203B41FA5}">
                          <a16:colId xmlns:a16="http://schemas.microsoft.com/office/drawing/2014/main" val="638228453"/>
                        </a:ext>
                      </a:extLst>
                    </a:gridCol>
                  </a:tblGrid>
                  <a:tr h="359386">
                    <a:tc>
                      <a:txBody>
                        <a:bodyPr/>
                        <a:lstStyle/>
                        <a:p>
                          <a:pPr marL="0" marR="0" algn="ctr">
                            <a:spcBef>
                              <a:spcPts val="0"/>
                            </a:spcBef>
                            <a:spcAft>
                              <a:spcPts val="0"/>
                            </a:spcAft>
                          </a:pPr>
                          <a:r>
                            <a:rPr lang="en-US" sz="1800" dirty="0">
                              <a:effectLst/>
                            </a:rPr>
                            <a:t>Population 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75460115"/>
                      </a:ext>
                    </a:extLst>
                  </a:tr>
                  <a:tr h="1513287">
                    <a:tc>
                      <a:txBody>
                        <a:bodyPr/>
                        <a:lstStyle/>
                        <a:p>
                          <a:endParaRPr lang="en-US"/>
                        </a:p>
                      </a:txBody>
                      <a:tcPr marL="68580" marR="68580" marT="0" marB="0">
                        <a:blipFill>
                          <a:blip r:embed="rId4"/>
                          <a:stretch>
                            <a:fillRect l="-55" t="-29317" r="-111" b="-124096"/>
                          </a:stretch>
                        </a:blipFill>
                      </a:tcPr>
                    </a:tc>
                    <a:extLst>
                      <a:ext uri="{0D108BD9-81ED-4DB2-BD59-A6C34878D82A}">
                        <a16:rowId xmlns:a16="http://schemas.microsoft.com/office/drawing/2014/main" val="3089187195"/>
                      </a:ext>
                    </a:extLst>
                  </a:tr>
                  <a:tr h="359386">
                    <a:tc>
                      <a:txBody>
                        <a:bodyPr/>
                        <a:lstStyle/>
                        <a:p>
                          <a:pPr marL="0" marR="0" algn="ctr">
                            <a:spcBef>
                              <a:spcPts val="0"/>
                            </a:spcBef>
                            <a:spcAft>
                              <a:spcPts val="0"/>
                            </a:spcAft>
                          </a:pPr>
                          <a:r>
                            <a:rPr lang="en-US" sz="1800" dirty="0">
                              <a:effectLst/>
                            </a:rPr>
                            <a:t>Subject-Specific 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398268"/>
                      </a:ext>
                    </a:extLst>
                  </a:tr>
                  <a:tr h="1513287">
                    <a:tc>
                      <a:txBody>
                        <a:bodyPr/>
                        <a:lstStyle/>
                        <a:p>
                          <a:endParaRPr lang="en-US"/>
                        </a:p>
                      </a:txBody>
                      <a:tcPr marL="68580" marR="68580" marT="0" marB="0">
                        <a:blipFill>
                          <a:blip r:embed="rId4"/>
                          <a:stretch>
                            <a:fillRect l="-55" t="-153629" r="-111" b="-806"/>
                          </a:stretch>
                        </a:blipFill>
                      </a:tcPr>
                    </a:tc>
                    <a:extLst>
                      <a:ext uri="{0D108BD9-81ED-4DB2-BD59-A6C34878D82A}">
                        <a16:rowId xmlns:a16="http://schemas.microsoft.com/office/drawing/2014/main" val="2272585338"/>
                      </a:ext>
                    </a:extLst>
                  </a:tr>
                </a:tbl>
              </a:graphicData>
            </a:graphic>
          </p:graphicFrame>
        </mc:Fallback>
      </mc:AlternateContent>
    </p:spTree>
    <p:extLst>
      <p:ext uri="{BB962C8B-B14F-4D97-AF65-F5344CB8AC3E}">
        <p14:creationId xmlns:p14="http://schemas.microsoft.com/office/powerpoint/2010/main" val="3954477259"/>
      </p:ext>
    </p:extLst>
  </p:cSld>
  <p:clrMapOvr>
    <a:masterClrMapping/>
  </p:clrMapOvr>
  <mc:AlternateContent xmlns:mc="http://schemas.openxmlformats.org/markup-compatibility/2006" xmlns:p14="http://schemas.microsoft.com/office/powerpoint/2010/main">
    <mc:Choice Requires="p14">
      <p:transition spd="slow" p14:dur="2000" advTm="197797"/>
    </mc:Choice>
    <mc:Fallback xmlns="">
      <p:transition spd="slow" advTm="197797"/>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CABCAE3-64FC-4149-819F-2C1812824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2" name="Picture 11">
            <a:extLst>
              <a:ext uri="{FF2B5EF4-FFF2-40B4-BE49-F238E27FC236}">
                <a16:creationId xmlns:a16="http://schemas.microsoft.com/office/drawing/2014/main" id="{012FDCFE-9AD2-4D8A-8CBF-B3AA37EBF6D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14" name="Straight Connector 13">
            <a:extLst>
              <a:ext uri="{FF2B5EF4-FFF2-40B4-BE49-F238E27FC236}">
                <a16:creationId xmlns:a16="http://schemas.microsoft.com/office/drawing/2014/main" id="{FBD463FC-4CA8-4FF4-85A3-AF9F4B98D2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BECF35C3-8B44-4F4B-BD25-4C01823DB22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 useBgFill="1">
        <p:nvSpPr>
          <p:cNvPr id="18" name="Rectangle 17">
            <a:extLst>
              <a:ext uri="{FF2B5EF4-FFF2-40B4-BE49-F238E27FC236}">
                <a16:creationId xmlns:a16="http://schemas.microsoft.com/office/drawing/2014/main" id="{D0712110-0BC1-4B31-B3BB-63B44222E8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4466B5F3-C053-4580-B04A-1EF9498882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CB42F629-7D1B-4EEE-9335-798992529F39}"/>
              </a:ext>
            </a:extLst>
          </p:cNvPr>
          <p:cNvSpPr>
            <a:spLocks noGrp="1"/>
          </p:cNvSpPr>
          <p:nvPr>
            <p:ph type="title"/>
          </p:nvPr>
        </p:nvSpPr>
        <p:spPr>
          <a:xfrm>
            <a:off x="1452616" y="962902"/>
            <a:ext cx="4176384" cy="2380828"/>
          </a:xfrm>
        </p:spPr>
        <p:txBody>
          <a:bodyPr vert="horz" lIns="91440" tIns="45720" rIns="91440" bIns="0" rtlCol="0" anchor="b">
            <a:normAutofit/>
          </a:bodyPr>
          <a:lstStyle/>
          <a:p>
            <a:r>
              <a:rPr lang="en-US" sz="4800"/>
              <a:t>Thank You for listening</a:t>
            </a:r>
          </a:p>
        </p:txBody>
      </p:sp>
      <p:sp>
        <p:nvSpPr>
          <p:cNvPr id="3" name="Text Placeholder 2">
            <a:extLst>
              <a:ext uri="{FF2B5EF4-FFF2-40B4-BE49-F238E27FC236}">
                <a16:creationId xmlns:a16="http://schemas.microsoft.com/office/drawing/2014/main" id="{52456868-FA52-41E5-B286-678A6C14EC05}"/>
              </a:ext>
            </a:extLst>
          </p:cNvPr>
          <p:cNvSpPr>
            <a:spLocks noGrp="1"/>
          </p:cNvSpPr>
          <p:nvPr>
            <p:ph type="body" idx="1"/>
          </p:nvPr>
        </p:nvSpPr>
        <p:spPr>
          <a:xfrm>
            <a:off x="1452617" y="3531204"/>
            <a:ext cx="4171479" cy="1610643"/>
          </a:xfrm>
        </p:spPr>
        <p:txBody>
          <a:bodyPr vert="horz" lIns="91440" tIns="91440" rIns="91440" bIns="91440" rtlCol="0">
            <a:normAutofit/>
          </a:bodyPr>
          <a:lstStyle/>
          <a:p>
            <a:endParaRPr lang="en-US" sz="1600" cap="all"/>
          </a:p>
        </p:txBody>
      </p:sp>
      <p:cxnSp>
        <p:nvCxnSpPr>
          <p:cNvPr id="22" name="Straight Connector 21">
            <a:extLst>
              <a:ext uri="{FF2B5EF4-FFF2-40B4-BE49-F238E27FC236}">
                <a16:creationId xmlns:a16="http://schemas.microsoft.com/office/drawing/2014/main" id="{FA6123F2-4B61-414F-A7E5-5B7828EACAE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452617" y="3528543"/>
            <a:ext cx="4171479" cy="0"/>
          </a:xfrm>
          <a:prstGeom prst="line">
            <a:avLst/>
          </a:prstGeom>
          <a:ln w="31750"/>
        </p:spPr>
        <p:style>
          <a:lnRef idx="3">
            <a:schemeClr val="accent1"/>
          </a:lnRef>
          <a:fillRef idx="0">
            <a:schemeClr val="accent1"/>
          </a:fillRef>
          <a:effectRef idx="2">
            <a:schemeClr val="accent1"/>
          </a:effectRef>
          <a:fontRef idx="minor">
            <a:schemeClr val="tx1"/>
          </a:fontRef>
        </p:style>
      </p:cxnSp>
      <p:pic>
        <p:nvPicPr>
          <p:cNvPr id="7" name="Graphic 6" descr="Smiling Face with No Fill">
            <a:extLst>
              <a:ext uri="{FF2B5EF4-FFF2-40B4-BE49-F238E27FC236}">
                <a16:creationId xmlns:a16="http://schemas.microsoft.com/office/drawing/2014/main" id="{EB297B34-C4A6-483A-B5B8-0CE679A6EE9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44251" y="805583"/>
            <a:ext cx="4660762" cy="4660762"/>
          </a:xfrm>
          <a:prstGeom prst="rect">
            <a:avLst/>
          </a:prstGeom>
        </p:spPr>
      </p:pic>
      <p:pic>
        <p:nvPicPr>
          <p:cNvPr id="24" name="Picture 23">
            <a:extLst>
              <a:ext uri="{FF2B5EF4-FFF2-40B4-BE49-F238E27FC236}">
                <a16:creationId xmlns:a16="http://schemas.microsoft.com/office/drawing/2014/main" id="{25CED634-E2D0-4AB7-96DD-816C9B52C5CF}"/>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cxnSp>
        <p:nvCxnSpPr>
          <p:cNvPr id="26" name="Straight Connector 25">
            <a:extLst>
              <a:ext uri="{FF2B5EF4-FFF2-40B4-BE49-F238E27FC236}">
                <a16:creationId xmlns:a16="http://schemas.microsoft.com/office/drawing/2014/main" id="{FCDDCDFB-696D-4FDF-9B58-24F71B7C37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6094639"/>
      </p:ext>
    </p:extLst>
  </p:cSld>
  <p:clrMapOvr>
    <a:masterClrMapping/>
  </p:clrMapOvr>
  <mc:AlternateContent xmlns:mc="http://schemas.openxmlformats.org/markup-compatibility/2006" xmlns:p14="http://schemas.microsoft.com/office/powerpoint/2010/main">
    <mc:Choice Requires="p14">
      <p:transition spd="slow" p14:dur="2000" advTm="7124"/>
    </mc:Choice>
    <mc:Fallback xmlns="">
      <p:transition spd="slow" advTm="7124"/>
    </mc:Fallback>
  </mc:AlternateContent>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1946</TotalTime>
  <Words>704</Words>
  <Application>Microsoft Office PowerPoint</Application>
  <PresentationFormat>Widescreen</PresentationFormat>
  <Paragraphs>126</Paragraphs>
  <Slides>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Cambria Math</vt:lpstr>
      <vt:lpstr>Gill Sans MT</vt:lpstr>
      <vt:lpstr>Times New Roman</vt:lpstr>
      <vt:lpstr>Gallery</vt:lpstr>
      <vt:lpstr>Analysis of Autism Data Using Mixed Linear Effects Model Approach</vt:lpstr>
      <vt:lpstr>Autism Dataset Background</vt:lpstr>
      <vt:lpstr>Research Questions</vt:lpstr>
      <vt:lpstr>Summary Statistics</vt:lpstr>
      <vt:lpstr>Summary Visualizations </vt:lpstr>
      <vt:lpstr>Final Model</vt:lpstr>
      <vt:lpstr>Thank You for listening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Mixed Linear Effects Analysis using Autism Data</dc:title>
  <dc:creator>Aaron Niecestro</dc:creator>
  <cp:lastModifiedBy>Aaron Niecestro</cp:lastModifiedBy>
  <cp:revision>14</cp:revision>
  <dcterms:created xsi:type="dcterms:W3CDTF">2021-12-05T21:53:05Z</dcterms:created>
  <dcterms:modified xsi:type="dcterms:W3CDTF">2021-12-07T06:25:37Z</dcterms:modified>
</cp:coreProperties>
</file>